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7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72" r:id="rId7"/>
    <p:sldId id="259" r:id="rId8"/>
    <p:sldId id="274" r:id="rId9"/>
    <p:sldId id="265" r:id="rId10"/>
    <p:sldId id="266" r:id="rId11"/>
    <p:sldId id="261" r:id="rId12"/>
    <p:sldId id="262" r:id="rId13"/>
    <p:sldId id="275" r:id="rId14"/>
    <p:sldId id="277" r:id="rId15"/>
    <p:sldId id="281" r:id="rId16"/>
    <p:sldId id="287" r:id="rId17"/>
    <p:sldId id="288" r:id="rId18"/>
    <p:sldId id="290" r:id="rId19"/>
    <p:sldId id="292" r:id="rId20"/>
    <p:sldId id="294" r:id="rId21"/>
    <p:sldId id="296" r:id="rId22"/>
    <p:sldId id="299" r:id="rId23"/>
    <p:sldId id="301" r:id="rId24"/>
    <p:sldId id="306" r:id="rId25"/>
    <p:sldId id="279" r:id="rId26"/>
    <p:sldId id="270" r:id="rId27"/>
    <p:sldId id="268" r:id="rId28"/>
    <p:sldId id="264" r:id="rId29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" d="2"/>
          <a:sy n="1" d="2"/>
        </p:scale>
        <p:origin x="0" y="0"/>
      </p:cViewPr>
      <p:guideLst>
        <p:guide orient="horz" pos="2168"/>
        <p:guide pos="384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171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E2352-F20B-45C8-8657-AC9A9BE194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74111-FE09-45D0-92F5-E11C30BFC8B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/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3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3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8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65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2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64" y="0"/>
            <a:ext cx="12188635" cy="68598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/>
              <a:t> </a:t>
            </a:r>
            <a:endParaRPr lang="en-GB" noProof="0"/>
          </a:p>
        </p:txBody>
      </p:sp>
      <p:pic>
        <p:nvPicPr>
          <p:cNvPr id="23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24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78" name="矩形 14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79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/>
          </a:p>
        </p:txBody>
      </p:sp>
      <p:pic>
        <p:nvPicPr>
          <p:cNvPr id="80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/>
          </a:p>
        </p:txBody>
      </p:sp>
      <p:pic>
        <p:nvPicPr>
          <p:cNvPr id="8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84" name="矩形 8"/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文本框 5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/>
          </a:p>
        </p:txBody>
      </p:sp>
      <p:pic>
        <p:nvPicPr>
          <p:cNvPr id="87" name="图片 33"/>
          <p:cNvPicPr>
            <a:picLocks noChangeAspect="1"/>
          </p:cNvPicPr>
          <p:nvPr userDrawn="1"/>
        </p:nvPicPr>
        <p:blipFill rotWithShape="1">
          <a:blip r:embed="rId2"/>
          <a:srcRect b="34876"/>
          <a:stretch>
            <a:fillRect/>
          </a:stretch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文本框 4"/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/>
          </a:p>
        </p:txBody>
      </p:sp>
      <p:pic>
        <p:nvPicPr>
          <p:cNvPr id="90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91" name="矩形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图片 10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/>
              <a:t>目录</a:t>
            </a:r>
            <a:br>
              <a:rPr lang="en-US" altLang="zh-CN" noProof="0"/>
            </a:br>
            <a:endParaRPr lang="en-GB" noProof="0"/>
          </a:p>
        </p:txBody>
      </p:sp>
      <p:sp>
        <p:nvSpPr>
          <p:cNvPr id="9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800" indent="-304800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/>
              <a:t>编辑题目</a:t>
            </a:r>
            <a:r>
              <a:rPr lang="en-US" altLang="zh-CN"/>
              <a:t> 16pt</a:t>
            </a:r>
            <a:endParaRPr lang="en-US" altLang="zh-CN"/>
          </a:p>
          <a:p>
            <a:pPr lvl="0"/>
            <a:r>
              <a:rPr lang="zh-CN" altLang="en-US"/>
              <a:t>编辑题目</a:t>
            </a:r>
            <a:endParaRPr lang="en-US" altLang="zh-CN"/>
          </a:p>
          <a:p>
            <a:pPr lvl="0"/>
            <a:r>
              <a:rPr lang="zh-CN" altLang="en-US"/>
              <a:t>编辑题目</a:t>
            </a:r>
            <a:endParaRPr lang="zh-CN" altLang="en-US"/>
          </a:p>
          <a:p>
            <a:pPr lvl="1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/>
          </a:p>
        </p:txBody>
      </p:sp>
      <p:pic>
        <p:nvPicPr>
          <p:cNvPr id="99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8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6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9.png"/><Relationship Id="rId1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0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20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image" Target="../media/image17.svg"/><Relationship Id="rId2" Type="http://schemas.openxmlformats.org/officeDocument/2006/relationships/tags" Target="../tags/tag18.xml"/><Relationship Id="rId19" Type="http://schemas.openxmlformats.org/officeDocument/2006/relationships/image" Target="../media/image16.png"/><Relationship Id="rId18" Type="http://schemas.openxmlformats.org/officeDocument/2006/relationships/tags" Target="../tags/tag30.xml"/><Relationship Id="rId17" Type="http://schemas.openxmlformats.org/officeDocument/2006/relationships/image" Target="../media/image15.svg"/><Relationship Id="rId16" Type="http://schemas.openxmlformats.org/officeDocument/2006/relationships/image" Target="../media/image14.png"/><Relationship Id="rId15" Type="http://schemas.openxmlformats.org/officeDocument/2006/relationships/tags" Target="../tags/tag29.xml"/><Relationship Id="rId14" Type="http://schemas.openxmlformats.org/officeDocument/2006/relationships/image" Target="../media/image13.svg"/><Relationship Id="rId13" Type="http://schemas.openxmlformats.org/officeDocument/2006/relationships/image" Target="../media/image12.png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6" Type="http://schemas.openxmlformats.org/officeDocument/2006/relationships/notesSlide" Target="../notesSlides/notesSlide6.xml"/><Relationship Id="rId25" Type="http://schemas.openxmlformats.org/officeDocument/2006/relationships/slideLayout" Target="../slideLayouts/slideLayout20.xml"/><Relationship Id="rId24" Type="http://schemas.openxmlformats.org/officeDocument/2006/relationships/tags" Target="../tags/tag52.xml"/><Relationship Id="rId23" Type="http://schemas.openxmlformats.org/officeDocument/2006/relationships/image" Target="../media/image23.svg"/><Relationship Id="rId22" Type="http://schemas.openxmlformats.org/officeDocument/2006/relationships/image" Target="../media/image22.png"/><Relationship Id="rId21" Type="http://schemas.openxmlformats.org/officeDocument/2006/relationships/tags" Target="../tags/tag51.xml"/><Relationship Id="rId20" Type="http://schemas.openxmlformats.org/officeDocument/2006/relationships/image" Target="../media/image21.svg"/><Relationship Id="rId2" Type="http://schemas.openxmlformats.org/officeDocument/2006/relationships/tags" Target="../tags/tag36.xml"/><Relationship Id="rId19" Type="http://schemas.openxmlformats.org/officeDocument/2006/relationships/image" Target="../media/image20.png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image" Target="../media/image19.svg"/><Relationship Id="rId15" Type="http://schemas.openxmlformats.org/officeDocument/2006/relationships/image" Target="../media/image18.png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tags" Target="../tags/tag3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5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svg"/><Relationship Id="rId8" Type="http://schemas.openxmlformats.org/officeDocument/2006/relationships/image" Target="../media/image24.png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4" Type="http://schemas.openxmlformats.org/officeDocument/2006/relationships/slideLayout" Target="../slideLayouts/slideLayout20.xml"/><Relationship Id="rId13" Type="http://schemas.openxmlformats.org/officeDocument/2006/relationships/tags" Target="../tags/tag69.xml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tags" Target="../tags/tag68.xml"/><Relationship Id="rId1" Type="http://schemas.openxmlformats.org/officeDocument/2006/relationships/tags" Target="../tags/tag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20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8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20.xml"/><Relationship Id="rId1" Type="http://schemas.openxmlformats.org/officeDocument/2006/relationships/tags" Target="../tags/tag9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image" Target="../media/image29.svg"/><Relationship Id="rId7" Type="http://schemas.openxmlformats.org/officeDocument/2006/relationships/image" Target="../media/image28.png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5" Type="http://schemas.openxmlformats.org/officeDocument/2006/relationships/slideLayout" Target="../slideLayouts/slideLayout20.xml"/><Relationship Id="rId14" Type="http://schemas.openxmlformats.org/officeDocument/2006/relationships/tags" Target="../tags/tag110.xml"/><Relationship Id="rId13" Type="http://schemas.openxmlformats.org/officeDocument/2006/relationships/image" Target="../media/image31.svg"/><Relationship Id="rId12" Type="http://schemas.openxmlformats.org/officeDocument/2006/relationships/image" Target="../media/image30.png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10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7" Type="http://schemas.openxmlformats.org/officeDocument/2006/relationships/slideLayout" Target="../slideLayouts/slideLayout20.xml"/><Relationship Id="rId26" Type="http://schemas.openxmlformats.org/officeDocument/2006/relationships/tags" Target="../tags/tag128.xml"/><Relationship Id="rId25" Type="http://schemas.openxmlformats.org/officeDocument/2006/relationships/image" Target="../media/image37.svg"/><Relationship Id="rId24" Type="http://schemas.openxmlformats.org/officeDocument/2006/relationships/image" Target="../media/image24.png"/><Relationship Id="rId23" Type="http://schemas.openxmlformats.org/officeDocument/2006/relationships/tags" Target="../tags/tag127.xml"/><Relationship Id="rId22" Type="http://schemas.openxmlformats.org/officeDocument/2006/relationships/image" Target="../media/image36.svg"/><Relationship Id="rId21" Type="http://schemas.openxmlformats.org/officeDocument/2006/relationships/image" Target="../media/image35.png"/><Relationship Id="rId20" Type="http://schemas.openxmlformats.org/officeDocument/2006/relationships/tags" Target="../tags/tag126.xml"/><Relationship Id="rId2" Type="http://schemas.openxmlformats.org/officeDocument/2006/relationships/tags" Target="../tags/tag112.xml"/><Relationship Id="rId19" Type="http://schemas.openxmlformats.org/officeDocument/2006/relationships/image" Target="../media/image34.svg"/><Relationship Id="rId18" Type="http://schemas.openxmlformats.org/officeDocument/2006/relationships/image" Target="../media/image33.png"/><Relationship Id="rId17" Type="http://schemas.openxmlformats.org/officeDocument/2006/relationships/tags" Target="../tags/tag125.xml"/><Relationship Id="rId16" Type="http://schemas.openxmlformats.org/officeDocument/2006/relationships/image" Target="../media/image32.svg"/><Relationship Id="rId15" Type="http://schemas.openxmlformats.org/officeDocument/2006/relationships/image" Target="../media/image26.png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132.xml"/><Relationship Id="rId4" Type="http://schemas.openxmlformats.org/officeDocument/2006/relationships/image" Target="../media/image38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136.xml"/><Relationship Id="rId4" Type="http://schemas.openxmlformats.org/officeDocument/2006/relationships/image" Target="../media/image39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3" Type="http://schemas.openxmlformats.org/officeDocument/2006/relationships/slideLayout" Target="../slideLayouts/slideLayout20.xml"/><Relationship Id="rId42" Type="http://schemas.openxmlformats.org/officeDocument/2006/relationships/tags" Target="../tags/tag170.xml"/><Relationship Id="rId41" Type="http://schemas.openxmlformats.org/officeDocument/2006/relationships/image" Target="../media/image43.svg"/><Relationship Id="rId40" Type="http://schemas.openxmlformats.org/officeDocument/2006/relationships/image" Target="../media/image18.png"/><Relationship Id="rId4" Type="http://schemas.openxmlformats.org/officeDocument/2006/relationships/tags" Target="../tags/tag140.xml"/><Relationship Id="rId39" Type="http://schemas.openxmlformats.org/officeDocument/2006/relationships/tags" Target="../tags/tag169.xml"/><Relationship Id="rId38" Type="http://schemas.openxmlformats.org/officeDocument/2006/relationships/image" Target="../media/image42.svg"/><Relationship Id="rId37" Type="http://schemas.openxmlformats.org/officeDocument/2006/relationships/image" Target="../media/image22.png"/><Relationship Id="rId36" Type="http://schemas.openxmlformats.org/officeDocument/2006/relationships/tags" Target="../tags/tag168.xml"/><Relationship Id="rId35" Type="http://schemas.openxmlformats.org/officeDocument/2006/relationships/image" Target="../media/image41.svg"/><Relationship Id="rId34" Type="http://schemas.openxmlformats.org/officeDocument/2006/relationships/image" Target="../media/image14.png"/><Relationship Id="rId33" Type="http://schemas.openxmlformats.org/officeDocument/2006/relationships/tags" Target="../tags/tag167.xml"/><Relationship Id="rId32" Type="http://schemas.openxmlformats.org/officeDocument/2006/relationships/image" Target="../media/image40.svg"/><Relationship Id="rId31" Type="http://schemas.openxmlformats.org/officeDocument/2006/relationships/image" Target="../media/image16.png"/><Relationship Id="rId30" Type="http://schemas.openxmlformats.org/officeDocument/2006/relationships/tags" Target="../tags/tag166.xml"/><Relationship Id="rId3" Type="http://schemas.openxmlformats.org/officeDocument/2006/relationships/tags" Target="../tags/tag139.xml"/><Relationship Id="rId29" Type="http://schemas.openxmlformats.org/officeDocument/2006/relationships/tags" Target="../tags/tag165.xml"/><Relationship Id="rId28" Type="http://schemas.openxmlformats.org/officeDocument/2006/relationships/tags" Target="../tags/tag164.xml"/><Relationship Id="rId27" Type="http://schemas.openxmlformats.org/officeDocument/2006/relationships/tags" Target="../tags/tag163.xml"/><Relationship Id="rId26" Type="http://schemas.openxmlformats.org/officeDocument/2006/relationships/tags" Target="../tags/tag162.xml"/><Relationship Id="rId25" Type="http://schemas.openxmlformats.org/officeDocument/2006/relationships/tags" Target="../tags/tag161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tags" Target="../tags/tag138.xml"/><Relationship Id="rId19" Type="http://schemas.openxmlformats.org/officeDocument/2006/relationships/tags" Target="../tags/tag155.xml"/><Relationship Id="rId18" Type="http://schemas.openxmlformats.org/officeDocument/2006/relationships/tags" Target="../tags/tag154.xml"/><Relationship Id="rId17" Type="http://schemas.openxmlformats.org/officeDocument/2006/relationships/tags" Target="../tags/tag153.xml"/><Relationship Id="rId16" Type="http://schemas.openxmlformats.org/officeDocument/2006/relationships/tags" Target="../tags/tag152.xml"/><Relationship Id="rId15" Type="http://schemas.openxmlformats.org/officeDocument/2006/relationships/tags" Target="../tags/tag151.xml"/><Relationship Id="rId14" Type="http://schemas.openxmlformats.org/officeDocument/2006/relationships/tags" Target="../tags/tag150.xml"/><Relationship Id="rId13" Type="http://schemas.openxmlformats.org/officeDocument/2006/relationships/tags" Target="../tags/tag149.xml"/><Relationship Id="rId12" Type="http://schemas.openxmlformats.org/officeDocument/2006/relationships/tags" Target="../tags/tag148.xml"/><Relationship Id="rId11" Type="http://schemas.openxmlformats.org/officeDocument/2006/relationships/tags" Target="../tags/tag147.xml"/><Relationship Id="rId10" Type="http://schemas.openxmlformats.org/officeDocument/2006/relationships/tags" Target="../tags/tag146.xml"/><Relationship Id="rId1" Type="http://schemas.openxmlformats.org/officeDocument/2006/relationships/tags" Target="../tags/tag1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5"/>
          <p:cNvSpPr txBox="1"/>
          <p:nvPr/>
        </p:nvSpPr>
        <p:spPr>
          <a:xfrm>
            <a:off x="526511" y="3893971"/>
            <a:ext cx="4540789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kumimoji="1" lang="zh-CN" altLang="en-US" sz="2000">
                <a:solidFill>
                  <a:schemeClr val="bg1"/>
                </a:solidFill>
                <a:latin typeface="vivo Sans" panose="02000500000000000000" pitchFamily="2" charset="-122"/>
                <a:ea typeface="vivo Sans"/>
                <a:cs typeface="vivo Sans" panose="02000500000000000000" pitchFamily="2" charset="-122"/>
              </a:rPr>
              <a:t>作品名称：</a:t>
            </a:r>
            <a:r>
              <a:rPr kumimoji="1" lang="zh-CN" altLang="en-US" sz="2000" b="1">
                <a:solidFill>
                  <a:schemeClr val="bg1"/>
                </a:solidFill>
                <a:latin typeface="vivo Sans" panose="02000500000000000000" pitchFamily="2" charset="-122"/>
                <a:ea typeface="vivo Sans"/>
                <a:cs typeface="vivo Sans" panose="02000500000000000000" pitchFamily="2" charset="-122"/>
              </a:rPr>
              <a:t>Bluelm-Shopguard</a:t>
            </a:r>
            <a:endParaRPr kumimoji="1" lang="zh-CN" altLang="en-US" sz="2000" b="1">
              <a:solidFill>
                <a:schemeClr val="bg1"/>
              </a:solidFill>
              <a:latin typeface="vivo Sans" panose="02000500000000000000" pitchFamily="2" charset="-122"/>
              <a:ea typeface="vivo Sans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8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9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10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11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  <a:endParaRPr kumimoji="1" lang="zh-CN" altLang="en-US" sz="3735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12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13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团队介绍</a:t>
            </a:r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2"/>
            </p:custDataLst>
          </p:nvPr>
        </p:nvSpPr>
        <p:spPr>
          <a:xfrm>
            <a:off x="695960" y="1423035"/>
            <a:ext cx="10800080" cy="4838700"/>
          </a:xfrm>
          <a:custGeom>
            <a:avLst/>
            <a:gdLst>
              <a:gd name="connsiteX0" fmla="*/ 546 w 17008"/>
              <a:gd name="connsiteY0" fmla="*/ 1 h 7620"/>
              <a:gd name="connsiteX1" fmla="*/ 16856 w 17008"/>
              <a:gd name="connsiteY1" fmla="*/ 0 h 7620"/>
              <a:gd name="connsiteX2" fmla="*/ 17008 w 17008"/>
              <a:gd name="connsiteY2" fmla="*/ 152 h 7620"/>
              <a:gd name="connsiteX3" fmla="*/ 17008 w 17008"/>
              <a:gd name="connsiteY3" fmla="*/ 7468 h 7620"/>
              <a:gd name="connsiteX4" fmla="*/ 16856 w 17008"/>
              <a:gd name="connsiteY4" fmla="*/ 7620 h 7620"/>
              <a:gd name="connsiteX5" fmla="*/ 152 w 17008"/>
              <a:gd name="connsiteY5" fmla="*/ 7620 h 7620"/>
              <a:gd name="connsiteX6" fmla="*/ 0 w 17008"/>
              <a:gd name="connsiteY6" fmla="*/ 7468 h 7620"/>
              <a:gd name="connsiteX7" fmla="*/ 4 w 17008"/>
              <a:gd name="connsiteY7" fmla="*/ 2173 h 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08" h="7620">
                <a:moveTo>
                  <a:pt x="546" y="1"/>
                </a:moveTo>
                <a:lnTo>
                  <a:pt x="16856" y="0"/>
                </a:lnTo>
                <a:cubicBezTo>
                  <a:pt x="16940" y="0"/>
                  <a:pt x="17008" y="68"/>
                  <a:pt x="17008" y="152"/>
                </a:cubicBezTo>
                <a:lnTo>
                  <a:pt x="17008" y="7468"/>
                </a:lnTo>
                <a:cubicBezTo>
                  <a:pt x="17008" y="7552"/>
                  <a:pt x="16940" y="7620"/>
                  <a:pt x="16856" y="7620"/>
                </a:cubicBezTo>
                <a:lnTo>
                  <a:pt x="152" y="7620"/>
                </a:lnTo>
                <a:cubicBezTo>
                  <a:pt x="68" y="7620"/>
                  <a:pt x="0" y="7552"/>
                  <a:pt x="0" y="7468"/>
                </a:cubicBezTo>
                <a:lnTo>
                  <a:pt x="4" y="2173"/>
                </a:lnTo>
              </a:path>
            </a:pathLst>
          </a:custGeom>
          <a:noFill/>
          <a:ln w="9525">
            <a:solidFill>
              <a:schemeClr val="accent1">
                <a:lumMod val="75000"/>
                <a:alpha val="40000"/>
              </a:schemeClr>
            </a:solidFill>
            <a:headEnd type="none"/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1452880" y="1423035"/>
            <a:ext cx="10043795" cy="739140"/>
          </a:xfrm>
          <a:prstGeom prst="rect">
            <a:avLst/>
          </a:prstGeom>
          <a:gradFill>
            <a:gsLst>
              <a:gs pos="0">
                <a:schemeClr val="accent1">
                  <a:alpha val="5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288290" rtlCol="0" anchor="ctr"/>
          <a:lstStyle/>
          <a:p>
            <a:pPr algn="l"/>
            <a:r>
              <a:rPr lang="zh-CN" altLang="en-US" sz="2400" b="1">
                <a:solidFill>
                  <a:schemeClr val="accent1"/>
                </a:solidFill>
              </a:rPr>
              <a:t>团队介绍</a:t>
            </a:r>
            <a:endParaRPr lang="zh-CN" altLang="en-US" sz="2400" b="1">
              <a:solidFill>
                <a:schemeClr val="accent1"/>
              </a:solidFill>
            </a:endParaRPr>
          </a:p>
        </p:txBody>
      </p:sp>
      <p:sp>
        <p:nvSpPr>
          <p:cNvPr id="11" name="圆角矩形 10"/>
          <p:cNvSpPr/>
          <p:nvPr>
            <p:custDataLst>
              <p:tags r:id="rId4"/>
            </p:custDataLst>
          </p:nvPr>
        </p:nvSpPr>
        <p:spPr>
          <a:xfrm>
            <a:off x="716915" y="1423035"/>
            <a:ext cx="738505" cy="741045"/>
          </a:xfrm>
          <a:prstGeom prst="roundRect">
            <a:avLst>
              <a:gd name="adj" fmla="val 9389"/>
            </a:avLst>
          </a:prstGeom>
          <a:gradFill>
            <a:gsLst>
              <a:gs pos="67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1202055" y="2170430"/>
            <a:ext cx="9905365" cy="0"/>
          </a:xfrm>
          <a:prstGeom prst="line">
            <a:avLst/>
          </a:prstGeom>
          <a:ln w="9525">
            <a:solidFill>
              <a:schemeClr val="accent1">
                <a:alpha val="4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打印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3285" y="1581150"/>
            <a:ext cx="406400" cy="4064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089660" y="2441575"/>
            <a:ext cx="10062210" cy="344551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/>
          <a:p>
            <a:pPr marL="0" lvl="0"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rPr>
              <a:t>团队名称:SIGAI39</a:t>
            </a:r>
            <a:endParaRPr lang="zh-CN" altLang="en-US" sz="2400" b="1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</a:endParaRPr>
          </a:p>
          <a:p>
            <a:pPr marL="0" lvl="0"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rPr>
              <a:t>团队成员:</a:t>
            </a:r>
            <a:endParaRPr lang="zh-CN" altLang="en-US" sz="2400" b="1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</a:endParaRPr>
          </a:p>
          <a:p>
            <a:pPr marL="457200" lvl="1"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rPr>
              <a:t>王迪(队长),华中科技大学:负责前端开发、产品介绍网页构建</a:t>
            </a:r>
            <a:endParaRPr lang="zh-CN" altLang="en-US" sz="2400" b="1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</a:endParaRPr>
          </a:p>
          <a:p>
            <a:pPr marL="457200" lvl="1"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rPr>
              <a:t>邢梓涵,华中科技大学:负责后端开发、测试优化</a:t>
            </a:r>
            <a:endParaRPr lang="zh-CN" altLang="en-US" sz="2400" b="1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</a:endParaRPr>
          </a:p>
          <a:p>
            <a:pPr marL="457200" lvl="1" indent="0" fontAlgn="auto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+mn-ea"/>
                <a:sym typeface="+mn-ea"/>
              </a:rPr>
              <a:t>刘丝语,华中科技大学:负责文档撰写,ppt和视频制作</a:t>
            </a:r>
            <a:endParaRPr lang="zh-CN" altLang="en-US" sz="2400" b="1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等线" panose="02010600030101010101" charset="-122"/>
              <a:ea typeface="等线" panose="02010600030101010101" charset="-122"/>
              <a:cs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组合 7"/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1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22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23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24" name="文本框 4"/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25" name="文本框 5"/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  <a:endParaRPr kumimoji="1" lang="zh-CN" altLang="en-US" sz="3735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26" name="文本框 6"/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4227" r="4227"/>
          <a:stretch>
            <a:fillRect/>
          </a:stretch>
        </p:blipFill>
        <p:spPr>
          <a:xfrm>
            <a:off x="5920740" y="0"/>
            <a:ext cx="6277610" cy="68573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886" h="10799">
                <a:moveTo>
                  <a:pt x="2361" y="0"/>
                </a:moveTo>
                <a:lnTo>
                  <a:pt x="9886" y="0"/>
                </a:lnTo>
                <a:lnTo>
                  <a:pt x="9886" y="10799"/>
                </a:lnTo>
                <a:lnTo>
                  <a:pt x="2232" y="10798"/>
                </a:lnTo>
                <a:lnTo>
                  <a:pt x="0" y="5399"/>
                </a:lnTo>
                <a:lnTo>
                  <a:pt x="2361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alpha val="20000"/>
              </a:schemeClr>
            </a:solidFill>
          </a:ln>
        </p:spPr>
      </p:pic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07732" y="1591309"/>
            <a:ext cx="4014787" cy="1462088"/>
          </a:xfrm>
        </p:spPr>
        <p:txBody>
          <a:bodyPr lIns="0" tIns="0" rIns="0" bIns="0" anchor="t" anchorCtr="0">
            <a:noAutofit/>
          </a:bodyPr>
          <a:lstStyle/>
          <a:p>
            <a:pPr algn="l"/>
            <a:r>
              <a:rPr lang="zh-CN" altLang="en-US" sz="4400"/>
              <a:t>作品简介</a:t>
            </a:r>
            <a:endParaRPr lang="zh-CN" altLang="en-US" sz="4400"/>
          </a:p>
        </p:txBody>
      </p:sp>
      <p:sp>
        <p:nvSpPr>
          <p:cNvPr id="6" name="图形 4"/>
          <p:cNvSpPr/>
          <p:nvPr>
            <p:custDataLst>
              <p:tags r:id="rId4"/>
            </p:custDataLst>
          </p:nvPr>
        </p:nvSpPr>
        <p:spPr>
          <a:xfrm rot="10800000">
            <a:off x="5753735" y="0"/>
            <a:ext cx="1983740" cy="6858635"/>
          </a:xfrm>
          <a:custGeom>
            <a:avLst/>
            <a:gdLst>
              <a:gd name="connsiteX0" fmla="*/ 0 w 4532499"/>
              <a:gd name="connsiteY0" fmla="*/ 0 h 6847690"/>
              <a:gd name="connsiteX1" fmla="*/ 1343436 w 4532499"/>
              <a:gd name="connsiteY1" fmla="*/ 0 h 6847690"/>
              <a:gd name="connsiteX2" fmla="*/ 4532500 w 4532499"/>
              <a:gd name="connsiteY2" fmla="*/ 3423846 h 6847690"/>
              <a:gd name="connsiteX3" fmla="*/ 1343436 w 4532499"/>
              <a:gd name="connsiteY3" fmla="*/ 6847691 h 6847690"/>
              <a:gd name="connsiteX4" fmla="*/ 0 w 4532499"/>
              <a:gd name="connsiteY4" fmla="*/ 6847691 h 6847690"/>
              <a:gd name="connsiteX5" fmla="*/ 3205041 w 4532499"/>
              <a:gd name="connsiteY5" fmla="*/ 3423846 h 684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32499" h="6847690">
                <a:moveTo>
                  <a:pt x="0" y="0"/>
                </a:moveTo>
                <a:lnTo>
                  <a:pt x="1343436" y="0"/>
                </a:lnTo>
                <a:lnTo>
                  <a:pt x="4532500" y="3423846"/>
                </a:lnTo>
                <a:lnTo>
                  <a:pt x="1343436" y="6847691"/>
                </a:lnTo>
                <a:lnTo>
                  <a:pt x="0" y="6847691"/>
                </a:lnTo>
                <a:lnTo>
                  <a:pt x="3205041" y="3423846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16801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>
            <a:off x="5519420" y="-635"/>
            <a:ext cx="1508125" cy="6858635"/>
          </a:xfrm>
          <a:custGeom>
            <a:avLst/>
            <a:gdLst>
              <a:gd name="connsiteX0" fmla="*/ 1410247 w 1508125"/>
              <a:gd name="connsiteY0" fmla="*/ 0 h 6858635"/>
              <a:gd name="connsiteX1" fmla="*/ 1508125 w 1508125"/>
              <a:gd name="connsiteY1" fmla="*/ 0 h 6858635"/>
              <a:gd name="connsiteX2" fmla="*/ 109273 w 1508125"/>
              <a:gd name="connsiteY2" fmla="*/ 3441458 h 6858635"/>
              <a:gd name="connsiteX3" fmla="*/ 108509 w 1508125"/>
              <a:gd name="connsiteY3" fmla="*/ 3441471 h 6858635"/>
              <a:gd name="connsiteX4" fmla="*/ 1493656 w 1508125"/>
              <a:gd name="connsiteY4" fmla="*/ 6858635 h 6858635"/>
              <a:gd name="connsiteX5" fmla="*/ 1400449 w 1508125"/>
              <a:gd name="connsiteY5" fmla="*/ 6858635 h 6858635"/>
              <a:gd name="connsiteX6" fmla="*/ 1881 w 1508125"/>
              <a:gd name="connsiteY6" fmla="*/ 3443337 h 6858635"/>
              <a:gd name="connsiteX7" fmla="*/ 0 w 1508125"/>
              <a:gd name="connsiteY7" fmla="*/ 3443370 h 6858635"/>
              <a:gd name="connsiteX8" fmla="*/ 1410247 w 1508125"/>
              <a:gd name="connsiteY8" fmla="*/ 0 h 6858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08125" h="6858635">
                <a:moveTo>
                  <a:pt x="1410247" y="0"/>
                </a:moveTo>
                <a:lnTo>
                  <a:pt x="1508125" y="0"/>
                </a:lnTo>
                <a:lnTo>
                  <a:pt x="109273" y="3441458"/>
                </a:lnTo>
                <a:lnTo>
                  <a:pt x="108509" y="3441471"/>
                </a:lnTo>
                <a:lnTo>
                  <a:pt x="1493656" y="6858635"/>
                </a:lnTo>
                <a:lnTo>
                  <a:pt x="1400449" y="6858635"/>
                </a:lnTo>
                <a:lnTo>
                  <a:pt x="1881" y="3443337"/>
                </a:lnTo>
                <a:lnTo>
                  <a:pt x="0" y="3443370"/>
                </a:lnTo>
                <a:lnTo>
                  <a:pt x="141024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3"/>
          <p:cNvSpPr/>
          <p:nvPr>
            <p:custDataLst>
              <p:tags r:id="rId6"/>
            </p:custDataLst>
          </p:nvPr>
        </p:nvSpPr>
        <p:spPr>
          <a:xfrm>
            <a:off x="708329" y="3233116"/>
            <a:ext cx="3738245" cy="931324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  <a:effectLst>
            <a:outerShdw blurRad="1270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kern="0">
                <a:ln>
                  <a:noFill/>
                  <a:prstDash val="sysDot"/>
                </a:ln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作品名称：Bluelm-Shopguard</a:t>
            </a:r>
            <a:endParaRPr lang="zh-CN">
              <a:solidFill>
                <a:schemeClr val="bg1"/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5698" y="267878"/>
            <a:ext cx="9300603" cy="291939"/>
          </a:xfrm>
        </p:spPr>
        <p:txBody>
          <a:bodyPr/>
          <a:lstStyle/>
          <a:p>
            <a:r>
              <a:rPr lang="zh-CN" sz="1400" b="0" spc="23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理解用户输入意图</a:t>
            </a:r>
            <a:endParaRPr lang="zh-CN"/>
          </a:p>
        </p:txBody>
      </p:sp>
      <p:sp>
        <p:nvSpPr>
          <p:cNvPr id="3" name="文本框 2"/>
          <p:cNvSpPr txBox="1"/>
          <p:nvPr/>
        </p:nvSpPr>
        <p:spPr>
          <a:xfrm>
            <a:off x="793750" y="471170"/>
            <a:ext cx="10971530" cy="32918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>
                <a:solidFill>
                  <a:srgbClr val="415FFF"/>
                </a:solidFill>
                <a:latin typeface="vivo Sans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作品概述</a:t>
            </a:r>
            <a:r>
              <a:rPr lang="zh-CN" altLang="en-US" sz="2000">
                <a:latin typeface="vivo Sans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：</a:t>
            </a:r>
            <a:r>
              <a:rPr lang="en-US" altLang="zh-CN" sz="2000" dirty="0">
                <a:ea typeface="华文中宋" panose="02010600040101010101" charset="-122"/>
              </a:rPr>
              <a:t> </a:t>
            </a:r>
            <a:endParaRPr lang="en-US" altLang="zh-CN" dirty="0">
              <a:ea typeface="华文中宋" panose="02010600040101010101" charset="-122"/>
            </a:endParaRPr>
          </a:p>
          <a:p>
            <a:pPr indent="457200">
              <a:lnSpc>
                <a:spcPct val="130000"/>
              </a:lnSpc>
            </a:pPr>
            <a:r>
              <a:rPr lang="en-US" altLang="zh-CN" sz="2000" dirty="0" err="1">
                <a:latin typeface="Gill Sans MT" panose="020B0502020104020203"/>
                <a:ea typeface="华文中宋" panose="02010600040101010101" charset="-122"/>
                <a:cs typeface="+mn-lt"/>
              </a:rPr>
              <a:t>Bluelm-ShopGuard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是一款基于蓝心大模型</a:t>
            </a:r>
            <a:r>
              <a:rPr lang="en-US" altLang="zh-CN" sz="2000" dirty="0">
                <a:ea typeface="华文中宋" panose="02010600040101010101" charset="-122"/>
                <a:cs typeface="+mn-lt"/>
              </a:rPr>
              <a:t>API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开发的智能购物反诈快应用，专为移动端消费者打造。该产品通过轻量化快应用形式，为用户提供</a:t>
            </a:r>
            <a:r>
              <a:rPr lang="en-US" altLang="zh-CN" sz="2000" dirty="0">
                <a:ea typeface="华文中宋" panose="02010600040101010101" charset="-122"/>
                <a:cs typeface="+mn-lt"/>
              </a:rPr>
              <a:t>"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即点即用</a:t>
            </a:r>
            <a:r>
              <a:rPr lang="en-US" altLang="zh-CN" sz="2000" dirty="0">
                <a:ea typeface="华文中宋" panose="02010600040101010101" charset="-122"/>
                <a:cs typeface="+mn-lt"/>
              </a:rPr>
              <a:t>"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的</a:t>
            </a:r>
            <a:r>
              <a:rPr lang="en-US" altLang="zh-CN" sz="2000" dirty="0">
                <a:ea typeface="华文中宋" panose="02010600040101010101" charset="-122"/>
                <a:cs typeface="+mn-lt"/>
              </a:rPr>
              <a:t>AI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反诈服务，无需下载安装即可快速识别网购中的虚假宣传、价格欺诈和交易风险。同时也支持Webapp网页访问和本地部署。</a:t>
            </a:r>
            <a:endParaRPr lang="zh-CN" altLang="en-US">
              <a:ea typeface="华文中宋" panose="02010600040101010101" charset="-122"/>
            </a:endParaRPr>
          </a:p>
          <a:p>
            <a:pPr indent="457200">
              <a:lnSpc>
                <a:spcPct val="130000"/>
              </a:lnSpc>
            </a:pPr>
            <a:endParaRPr lang="zh-CN" altLang="en-US" sz="2000">
              <a:ea typeface="华文中宋" panose="02010600040101010101" charset="-122"/>
              <a:cs typeface="+mn-lt"/>
            </a:endParaRPr>
          </a:p>
          <a:p>
            <a:pPr indent="457200">
              <a:lnSpc>
                <a:spcPct val="130000"/>
              </a:lnSpc>
            </a:pPr>
            <a:r>
              <a:rPr lang="en-US" sz="2000" dirty="0" err="1">
                <a:ea typeface="华文中宋" panose="02010600040101010101" charset="-122"/>
                <a:cs typeface="+mn-lt"/>
              </a:rPr>
              <a:t>产品采用拟人化交互设计</a:t>
            </a:r>
            <a:r>
              <a:rPr lang="zh-CN" altLang="en-US" sz="2000">
                <a:ea typeface="华文中宋" panose="02010600040101010101" charset="-122"/>
                <a:cs typeface="+mn-lt"/>
              </a:rPr>
              <a:t>，结合动态验证和多维度评估技术，能够实时分析商品价格合理性、平台可信度、宣传真实性以及支付安全性等重要指标。通过直观的星级评分和风险提示，帮助用户在网购前咨询、交易中预警以及大额商品购买时做出更明智的决策。</a:t>
            </a:r>
            <a:endParaRPr lang="en-US" altLang="zh-CN"/>
          </a:p>
          <a:p>
            <a:pPr indent="457200">
              <a:lnSpc>
                <a:spcPct val="130000"/>
              </a:lnSpc>
              <a:buFont typeface="Wingdings" panose="05000000000000000000" pitchFamily="2" charset="2"/>
              <a:buNone/>
            </a:pPr>
            <a:endParaRPr lang="en-US" altLang="zh-CN" sz="2000">
              <a:ea typeface="华文中宋" panose="02010600040101010101" charset="-122"/>
            </a:endParaRPr>
          </a:p>
          <a:p>
            <a:pPr indent="457200">
              <a:lnSpc>
                <a:spcPct val="130000"/>
              </a:lnSpc>
            </a:pPr>
            <a:r>
              <a:rPr lang="zh-CN" sz="2000">
                <a:latin typeface="华文中宋" panose="02010600040101010101" charset="-122"/>
                <a:ea typeface="华文中宋" panose="02010600040101010101" charset="-122"/>
                <a:cs typeface="+mn-lt"/>
              </a:rPr>
              <a:t>核心功能为以反购物诈骗为中心的的多种功能，包括智能话术识别、实时比价系统、全链路风险评估和可视化结果生成等，适用于多种购物交易高风险场景。</a:t>
            </a:r>
            <a:r>
              <a:rPr lang="en-US" altLang="zh-CN" sz="2000" dirty="0" err="1">
                <a:latin typeface="华文中宋" panose="02010600040101010101" charset="-122"/>
                <a:ea typeface="华文中宋" panose="02010600040101010101" charset="-122"/>
                <a:cs typeface="+mn-lt"/>
              </a:rPr>
              <a:t>Bluelm-ShopGuard</a:t>
            </a:r>
            <a:r>
              <a:rPr lang="zh-CN" sz="2000">
                <a:latin typeface="华文中宋" panose="02010600040101010101" charset="-122"/>
                <a:ea typeface="华文中宋" panose="02010600040101010101" charset="-122"/>
                <a:cs typeface="+mn-lt"/>
              </a:rPr>
              <a:t>以轻量便捷的使用体验和精准的风险评估能力，致力于为用户构建更安全、透明的移动购物环境。</a:t>
            </a:r>
            <a:endParaRPr lang="zh-CN">
              <a:latin typeface="华文中宋" panose="02010600040101010101" charset="-122"/>
            </a:endParaRPr>
          </a:p>
          <a:p>
            <a:pPr indent="457200">
              <a:lnSpc>
                <a:spcPct val="130000"/>
              </a:lnSpc>
              <a:buFont typeface="Wingdings" panose="05000000000000000000" pitchFamily="2" charset="2"/>
            </a:pPr>
            <a:endParaRPr lang="zh-CN" altLang="en-US" sz="2000"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 b="0" spc="23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作品简介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919605" y="2348865"/>
            <a:ext cx="2850515" cy="16814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作品宣传海报：</a:t>
            </a:r>
            <a:endParaRPr lang="en-US" altLang="zh-CN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zh-CN" altLang="en-US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endParaRPr kumimoji="1" lang="zh-CN" altLang="en-US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-23137" y="2317363"/>
            <a:ext cx="8416760" cy="346770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AEAEA"/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085671" y="3426764"/>
            <a:ext cx="3355975" cy="1922145"/>
          </a:xfrm>
          <a:prstGeom prst="rect">
            <a:avLst/>
          </a:prstGeom>
        </p:spPr>
        <p:txBody>
          <a:bodyPr vert="horz" wrap="square" lIns="0" tIns="0" rIns="91440" bIns="46800" rtlCol="0" anchor="t" anchorCtr="0">
            <a:norm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r>
              <a:rPr lang="zh-CN" altLang="en-US" sz="340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作品宣传海报</a:t>
            </a:r>
            <a:r>
              <a:rPr lang="en-US" altLang="zh-CN" sz="340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:</a:t>
            </a:r>
            <a:endParaRPr lang="en-US" altLang="zh-CN" sz="3400">
              <a:ln>
                <a:noFill/>
                <a:prstDash val="sysDot"/>
              </a:ln>
              <a:solidFill>
                <a:schemeClr val="dk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14" y="386522"/>
            <a:ext cx="4053205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7"/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33" name="文本框 1"/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4" name="文本框 2"/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5" name="文本框 3"/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en-US" altLang="zh-CN" sz="4000" b="1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6" name="文本框 4"/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37" name="文本框 5"/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  <a:endParaRPr kumimoji="1" lang="zh-CN" altLang="en-US" sz="3735">
                <a:solidFill>
                  <a:srgbClr val="E7E6E6">
                    <a:lumMod val="90000"/>
                  </a:srgbClr>
                </a:solidFill>
                <a:latin typeface="vivo Sans Medium" panose="02000500000000000000" pitchFamily="2" charset="-122"/>
                <a:ea typeface="vivo Sans Medium" panose="02000500000000000000" pitchFamily="2" charset="-122"/>
                <a:cs typeface="vivo Sans Medium" panose="02000500000000000000" pitchFamily="2" charset="-122"/>
              </a:endParaRPr>
            </a:p>
          </p:txBody>
        </p:sp>
        <p:sp>
          <p:nvSpPr>
            <p:cNvPr id="38" name="文本框 6"/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/>
              <a:r>
                <a:rPr kumimoji="1" lang="zh-CN" altLang="en-US" sz="3735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  <a:endParaRPr kumimoji="1" lang="zh-CN" altLang="en-US" sz="3735">
                <a:solidFill>
                  <a:prstClr val="black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 txBox="1"/>
          <p:nvPr/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230">
                <a:latin typeface="vivo Sans" panose="02000500000000000000" pitchFamily="2" charset="-122"/>
                <a:ea typeface="vivo Sans"/>
                <a:cs typeface="vivo Sans" panose="02000500000000000000" pitchFamily="2" charset="-122"/>
              </a:rPr>
              <a:t>作品策划</a:t>
            </a:r>
            <a:endParaRPr lang="zh-CN" altLang="en-US" sz="3200" b="1" spc="230">
              <a:solidFill>
                <a:schemeClr val="tx1"/>
              </a:solidFill>
              <a:uFillTx/>
              <a:latin typeface="vivo Sans" panose="02000500000000000000" pitchFamily="2" charset="-122"/>
              <a:ea typeface="vivo Sans"/>
              <a:cs typeface="vivo Sans" panose="02000500000000000000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1020445" y="1172210"/>
            <a:ext cx="303022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背景与思考：</a:t>
            </a:r>
            <a:endParaRPr lang="zh-CN" altLang="en-US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zh-CN" altLang="en-US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1665" y="2421918"/>
            <a:ext cx="6092190" cy="3746251"/>
          </a:xfrm>
          <a:prstGeom prst="rect">
            <a:avLst/>
          </a:prstGeom>
          <a:gradFill>
            <a:gsLst>
              <a:gs pos="50000">
                <a:schemeClr val="accent5"/>
              </a:gs>
              <a:gs pos="0">
                <a:schemeClr val="accent5">
                  <a:lumMod val="25000"/>
                  <a:lumOff val="75000"/>
                </a:schemeClr>
              </a:gs>
              <a:gs pos="100000">
                <a:schemeClr val="accent5">
                  <a:lumMod val="85000"/>
                </a:schemeClr>
              </a:gs>
            </a:gsLst>
            <a:lin ang="5400000" scaled="1"/>
          </a:gradFill>
          <a:ln>
            <a:gradFill>
              <a:gsLst>
                <a:gs pos="34000">
                  <a:srgbClr val="73B6E1"/>
                </a:gs>
                <a:gs pos="100000">
                  <a:srgbClr val="E4E6F5"/>
                </a:gs>
                <a:gs pos="70000">
                  <a:srgbClr val="BFDBF3"/>
                </a:gs>
                <a:gs pos="0">
                  <a:srgbClr val="3467A0"/>
                </a:gs>
              </a:gsLst>
              <a:lin ang="2700000" scaled="0"/>
            </a:gradFill>
          </a:ln>
        </p:spPr>
        <p:txBody>
          <a:bodyPr wrap="square" lIns="91440" tIns="45720" rIns="91440" bIns="45720" rtlCol="0" anchor="t">
            <a:noAutofit/>
          </a:bodyPr>
          <a:lstStyle/>
          <a:p>
            <a:endParaRPr lang="en-US" altLang="zh-CN"/>
          </a:p>
          <a:p>
            <a:pPr indent="457200"/>
            <a:r>
              <a:rPr lang="zh-CN" altLang="en-US" sz="2800">
                <a:ea typeface="华文中宋" panose="02010600040101010101" charset="-122"/>
              </a:rPr>
              <a:t>需求场景洞察</a:t>
            </a:r>
            <a:r>
              <a:rPr lang="en-US" altLang="zh-CN" sz="2800" dirty="0">
                <a:ea typeface="华文中宋" panose="02010600040101010101" charset="-122"/>
              </a:rPr>
              <a:t>:</a:t>
            </a:r>
            <a:endParaRPr lang="en-US" altLang="zh-CN" sz="2800" dirty="0">
              <a:ea typeface="华文中宋" panose="02010600040101010101" charset="-122"/>
            </a:endParaRPr>
          </a:p>
          <a:p>
            <a:pPr indent="457200"/>
            <a:r>
              <a:rPr lang="zh-CN" sz="2000" b="1">
                <a:latin typeface="华文中宋" panose="02010600040101010101" charset="-122"/>
                <a:ea typeface="华文中宋" panose="02010600040101010101" charset="-122"/>
                <a:cs typeface="+mn-ea"/>
              </a:rPr>
              <a:t>商品甄选保护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：识别低价诱骗（如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 2999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元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 iPhone 15 Pro Max</a:t>
            </a:r>
            <a:r>
              <a:rPr lang="zh-CN" altLang="en-US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）、虚假宣传（如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 “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一次美白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 3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度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”“NASA 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认证</a:t>
            </a:r>
            <a:r>
              <a:rPr lang="en-US" altLang="zh-CN" sz="2000" dirty="0">
                <a:latin typeface="华文中宋" panose="02010600040101010101" charset="-122"/>
                <a:ea typeface="华文中宋" panose="02010600040101010101" charset="-122"/>
                <a:cs typeface="+mn-ea"/>
              </a:rPr>
              <a:t>”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）等。</a:t>
            </a:r>
            <a:endParaRPr lang="zh-CN" dirty="0">
              <a:latin typeface="华文中宋" panose="02010600040101010101" charset="-122"/>
              <a:ea typeface="华文中宋" panose="02010600040101010101" charset="-122"/>
            </a:endParaRPr>
          </a:p>
          <a:p>
            <a:pPr indent="457200"/>
            <a:r>
              <a:rPr lang="zh-CN" sz="2000" b="1">
                <a:solidFill>
                  <a:srgbClr val="000000"/>
                </a:solidFill>
                <a:latin typeface="华文中宋" panose="02010600040101010101" charset="-122"/>
                <a:ea typeface="华文中宋" panose="02010600040101010101" charset="-122"/>
                <a:cs typeface="+mn-lt"/>
              </a:rPr>
              <a:t>交易安全护航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：预警脱离平台交易风险（如微信私下转账）,全程监控交易风险点。</a:t>
            </a:r>
            <a:endParaRPr lang="zh-CN"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indent="457200"/>
            <a:r>
              <a:rPr lang="zh-CN" sz="2000" b="1">
                <a:latin typeface="华文中宋" panose="02010600040101010101" charset="-122"/>
                <a:ea typeface="华文中宋" panose="02010600040101010101" charset="-122"/>
                <a:cs typeface="+mn-ea"/>
              </a:rPr>
              <a:t>渠道信誉评估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  <a:cs typeface="+mn-ea"/>
              </a:rPr>
              <a:t>：评估非正规渠道（如个人闲鱼卖家）可信度及售后保障。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indent="457200"/>
            <a:r>
              <a:rPr lang="zh-CN" sz="2000" b="1">
                <a:latin typeface="华文中宋" panose="02010600040101010101" charset="-122"/>
                <a:ea typeface="华文中宋" panose="02010600040101010101" charset="-122"/>
              </a:rPr>
              <a:t>全链路防护体系</a:t>
            </a:r>
            <a:r>
              <a:rPr lang="en-US" altLang="zh-CN" dirty="0">
                <a:latin typeface="Gill Sans MT" panose="020B0502020104020203"/>
                <a:ea typeface="华文中宋" panose="02010600040101010101" charset="-122"/>
              </a:rPr>
              <a:t>:</a:t>
            </a:r>
            <a:r>
              <a:rPr lang="en-US" altLang="zh-CN" sz="2000" dirty="0" err="1">
                <a:latin typeface="Gill Sans MT" panose="020B0502020104020203"/>
                <a:ea typeface="华文中宋" panose="02010600040101010101" charset="-122"/>
              </a:rPr>
              <a:t>覆盖选购-交易-售后全流程</a:t>
            </a:r>
            <a:r>
              <a:rPr lang="en-US" altLang="zh-CN" sz="2000" dirty="0" err="1">
                <a:ea typeface="华文中宋" panose="02010600040101010101" charset="-122"/>
              </a:rPr>
              <a:t>，构建用户安全屏障</a:t>
            </a:r>
            <a:r>
              <a:rPr lang="zh-CN" altLang="en-US" sz="2000"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lang="zh-CN" altLang="en-US" sz="2000"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3" name="图片 2" descr="jimeng-2025-07-06-1198-商品选购：识别低价诱骗（如 2999 元 iPhone 15 Pro Max）、...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7800" y="908685"/>
            <a:ext cx="5005705" cy="3310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 txBox="1"/>
          <p:nvPr/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230">
                <a:latin typeface="vivo Sans" panose="02000500000000000000" pitchFamily="2" charset="-122"/>
                <a:ea typeface="vivo Sans"/>
                <a:cs typeface="vivo Sans" panose="02000500000000000000" pitchFamily="2" charset="-122"/>
              </a:rPr>
              <a:t>作品策划</a:t>
            </a:r>
            <a:endParaRPr lang="zh-CN" altLang="en-US" sz="3200" b="1" spc="230">
              <a:solidFill>
                <a:schemeClr val="tx1"/>
              </a:solidFill>
              <a:uFillTx/>
              <a:latin typeface="vivo Sans" panose="02000500000000000000" pitchFamily="2" charset="-122"/>
              <a:ea typeface="vivo Sans"/>
              <a:cs typeface="vivo Sans" panose="02000500000000000000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1020445" y="1172210"/>
            <a:ext cx="303022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背景与思考：</a:t>
            </a:r>
            <a:endParaRPr lang="zh-CN" altLang="en-US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zh-CN" altLang="en-US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11" name="任意多边形 9"/>
          <p:cNvSpPr/>
          <p:nvPr>
            <p:custDataLst>
              <p:tags r:id="rId1"/>
            </p:custDataLst>
          </p:nvPr>
        </p:nvSpPr>
        <p:spPr>
          <a:xfrm>
            <a:off x="3201035" y="3121025"/>
            <a:ext cx="5793105" cy="34785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19050" cap="rnd">
            <a:solidFill>
              <a:schemeClr val="accent1">
                <a:alpha val="70000"/>
              </a:schemeClr>
            </a:solidFill>
            <a:prstDash val="sysDash"/>
          </a:ln>
          <a:effectLst>
            <a:outerShdw blurRad="215900" dist="762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ym typeface="+mn-ea"/>
            </a:endParaRPr>
          </a:p>
        </p:txBody>
      </p:sp>
      <p:sp>
        <p:nvSpPr>
          <p:cNvPr id="4" name="任意多边形 16"/>
          <p:cNvSpPr/>
          <p:nvPr>
            <p:custDataLst>
              <p:tags r:id="rId2"/>
            </p:custDataLst>
          </p:nvPr>
        </p:nvSpPr>
        <p:spPr>
          <a:xfrm>
            <a:off x="4780915" y="5015230"/>
            <a:ext cx="2633345" cy="15811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gradFill>
            <a:gsLst>
              <a:gs pos="44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痛点分析</a:t>
            </a:r>
            <a:r>
              <a:rPr lang="en-US" altLang="zh-CN" sz="240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:</a:t>
            </a:r>
            <a:endParaRPr lang="en-US" altLang="zh-CN" sz="240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3"/>
            </p:custDataLst>
          </p:nvPr>
        </p:nvCxnSpPr>
        <p:spPr>
          <a:xfrm>
            <a:off x="1652270" y="6600190"/>
            <a:ext cx="8890000" cy="0"/>
          </a:xfrm>
          <a:prstGeom prst="line">
            <a:avLst/>
          </a:prstGeom>
          <a:ln w="19050">
            <a:solidFill>
              <a:schemeClr val="accent1">
                <a:alpha val="15000"/>
              </a:schemeClr>
            </a:solidFill>
          </a:ln>
          <a:effectLst>
            <a:outerShdw blurRad="114300" dist="38100" dir="5400000" algn="t" rotWithShape="0">
              <a:schemeClr val="tx1">
                <a:alpha val="9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222885" y="3794760"/>
            <a:ext cx="3020695" cy="13804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消费者难辨复杂欺诈手段，易冲动消费或轻信虚假信息</a:t>
            </a:r>
            <a:endParaRPr lang="zh-CN">
              <a:latin typeface="华文中宋" panose="02010600040101010101" charset="-122"/>
              <a:ea typeface="华文中宋" panose="02010600040101010101" charset="-122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65" name="椭圆 64"/>
          <p:cNvSpPr/>
          <p:nvPr>
            <p:custDataLst>
              <p:tags r:id="rId5"/>
            </p:custDataLst>
          </p:nvPr>
        </p:nvSpPr>
        <p:spPr>
          <a:xfrm>
            <a:off x="8056880" y="383095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1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4" name="椭圆 63"/>
          <p:cNvSpPr/>
          <p:nvPr>
            <p:custDataLst>
              <p:tags r:id="rId6"/>
            </p:custDataLst>
          </p:nvPr>
        </p:nvSpPr>
        <p:spPr>
          <a:xfrm>
            <a:off x="8141335" y="3914140"/>
            <a:ext cx="579120" cy="579755"/>
          </a:xfrm>
          <a:prstGeom prst="ellipse">
            <a:avLst/>
          </a:prstGeom>
          <a:gradFill>
            <a:gsLst>
              <a:gs pos="44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7"/>
            </p:custDataLst>
          </p:nvPr>
        </p:nvSpPr>
        <p:spPr>
          <a:xfrm>
            <a:off x="5786120" y="281622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1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椭圆 16"/>
          <p:cNvSpPr/>
          <p:nvPr>
            <p:custDataLst>
              <p:tags r:id="rId8"/>
            </p:custDataLst>
          </p:nvPr>
        </p:nvSpPr>
        <p:spPr>
          <a:xfrm>
            <a:off x="5870575" y="2900045"/>
            <a:ext cx="579120" cy="579755"/>
          </a:xfrm>
          <a:prstGeom prst="ellipse">
            <a:avLst/>
          </a:prstGeom>
          <a:gradFill>
            <a:gsLst>
              <a:gs pos="44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椭圆 58"/>
          <p:cNvSpPr/>
          <p:nvPr>
            <p:custDataLst>
              <p:tags r:id="rId9"/>
            </p:custDataLst>
          </p:nvPr>
        </p:nvSpPr>
        <p:spPr>
          <a:xfrm>
            <a:off x="3410585" y="3830955"/>
            <a:ext cx="747395" cy="746760"/>
          </a:xfrm>
          <a:prstGeom prst="ellipse">
            <a:avLst/>
          </a:prstGeom>
          <a:noFill/>
          <a:ln>
            <a:gradFill>
              <a:gsLst>
                <a:gs pos="37000">
                  <a:schemeClr val="accent1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椭圆 57"/>
          <p:cNvSpPr/>
          <p:nvPr>
            <p:custDataLst>
              <p:tags r:id="rId10"/>
            </p:custDataLst>
          </p:nvPr>
        </p:nvSpPr>
        <p:spPr>
          <a:xfrm>
            <a:off x="3495040" y="3914775"/>
            <a:ext cx="579120" cy="579755"/>
          </a:xfrm>
          <a:prstGeom prst="ellipse">
            <a:avLst/>
          </a:prstGeom>
          <a:gradFill>
            <a:gsLst>
              <a:gs pos="44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  <a:gs pos="100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11"/>
            </p:custDataLst>
          </p:nvPr>
        </p:nvCxnSpPr>
        <p:spPr>
          <a:xfrm>
            <a:off x="5377180" y="6268085"/>
            <a:ext cx="1440180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rgbClr val="376FFF">
                    <a:alpha val="0"/>
                  </a:srgbClr>
                </a:gs>
                <a:gs pos="50000">
                  <a:srgbClr val="FFFFFF"/>
                </a:gs>
              </a:gsLst>
              <a:lin ang="10800000" scaled="1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18" descr="343435383036303b343532343136323bcfeec4bfc9fac3fcd6dcc6da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07735" y="3037205"/>
            <a:ext cx="288000" cy="288000"/>
          </a:xfrm>
          <a:prstGeom prst="rect">
            <a:avLst/>
          </a:prstGeom>
        </p:spPr>
      </p:pic>
      <p:pic>
        <p:nvPicPr>
          <p:cNvPr id="29" name="图片 12" descr="343439383331313b343532303032383bbfcdbba7b9dcc0ed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95005" y="4067810"/>
            <a:ext cx="288000" cy="288000"/>
          </a:xfrm>
          <a:prstGeom prst="rect">
            <a:avLst/>
          </a:prstGeom>
        </p:spPr>
      </p:pic>
      <p:pic>
        <p:nvPicPr>
          <p:cNvPr id="30" name="图片 5" descr="343435383036303b343532343134393bcdb7c4d4b7e7b1a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40455" y="4060190"/>
            <a:ext cx="288000" cy="28800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21"/>
            </p:custDataLst>
          </p:nvPr>
        </p:nvSpPr>
        <p:spPr>
          <a:xfrm>
            <a:off x="8847455" y="3784600"/>
            <a:ext cx="3355975" cy="13906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信息不对称，消费者对商品真实价格、卖家资质等信息掌握不足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33" name="矩形 32"/>
          <p:cNvSpPr/>
          <p:nvPr>
            <p:custDataLst>
              <p:tags r:id="rId22"/>
            </p:custDataLst>
          </p:nvPr>
        </p:nvSpPr>
        <p:spPr>
          <a:xfrm>
            <a:off x="4149090" y="1948815"/>
            <a:ext cx="4062095" cy="9525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传统反诈依赖人工经验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/ </a:t>
            </a:r>
            <a:r>
              <a:rPr lang="zh-CN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关键词匹配，缺乏语义理解、动态验证和风险量化</a:t>
            </a:r>
            <a:endParaRPr lang="zh-CN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34" name="任意多边形: 形状 23"/>
          <p:cNvSpPr/>
          <p:nvPr>
            <p:custDataLst>
              <p:tags r:id="rId23"/>
            </p:custDataLst>
          </p:nvPr>
        </p:nvSpPr>
        <p:spPr>
          <a:xfrm>
            <a:off x="3987800" y="4069715"/>
            <a:ext cx="4218940" cy="2532380"/>
          </a:xfrm>
          <a:custGeom>
            <a:avLst/>
            <a:gdLst>
              <a:gd name="connsiteX0" fmla="*/ 2108242 w 4218940"/>
              <a:gd name="connsiteY0" fmla="*/ 471170 h 2532380"/>
              <a:gd name="connsiteX1" fmla="*/ 399590 w 4218940"/>
              <a:gd name="connsiteY1" fmla="*/ 2180269 h 2532380"/>
              <a:gd name="connsiteX2" fmla="*/ 430181 w 4218940"/>
              <a:gd name="connsiteY2" fmla="*/ 2503583 h 2532380"/>
              <a:gd name="connsiteX3" fmla="*/ 434235 w 4218940"/>
              <a:gd name="connsiteY3" fmla="*/ 2523490 h 2532380"/>
              <a:gd name="connsiteX4" fmla="*/ 3781880 w 4218940"/>
              <a:gd name="connsiteY4" fmla="*/ 2523490 h 2532380"/>
              <a:gd name="connsiteX5" fmla="*/ 3785935 w 4218940"/>
              <a:gd name="connsiteY5" fmla="*/ 2503583 h 2532380"/>
              <a:gd name="connsiteX6" fmla="*/ 3816525 w 4218940"/>
              <a:gd name="connsiteY6" fmla="*/ 2180269 h 2532380"/>
              <a:gd name="connsiteX7" fmla="*/ 2108242 w 4218940"/>
              <a:gd name="connsiteY7" fmla="*/ 471170 h 2532380"/>
              <a:gd name="connsiteX8" fmla="*/ 2109698 w 4218940"/>
              <a:gd name="connsiteY8" fmla="*/ 0 h 2532380"/>
              <a:gd name="connsiteX9" fmla="*/ 4218940 w 4218940"/>
              <a:gd name="connsiteY9" fmla="*/ 2108876 h 2532380"/>
              <a:gd name="connsiteX10" fmla="*/ 4181169 w 4218940"/>
              <a:gd name="connsiteY10" fmla="*/ 2507816 h 2532380"/>
              <a:gd name="connsiteX11" fmla="*/ 4176164 w 4218940"/>
              <a:gd name="connsiteY11" fmla="*/ 2532380 h 2532380"/>
              <a:gd name="connsiteX12" fmla="*/ 42777 w 4218940"/>
              <a:gd name="connsiteY12" fmla="*/ 2532380 h 2532380"/>
              <a:gd name="connsiteX13" fmla="*/ 37771 w 4218940"/>
              <a:gd name="connsiteY13" fmla="*/ 2507816 h 2532380"/>
              <a:gd name="connsiteX14" fmla="*/ 0 w 4218940"/>
              <a:gd name="connsiteY14" fmla="*/ 2108876 h 2532380"/>
              <a:gd name="connsiteX15" fmla="*/ 2109698 w 4218940"/>
              <a:gd name="connsiteY15" fmla="*/ 0 h 25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18940" h="2532380">
                <a:moveTo>
                  <a:pt x="2108242" y="471170"/>
                </a:moveTo>
                <a:cubicBezTo>
                  <a:pt x="1164356" y="471170"/>
                  <a:pt x="399590" y="1236136"/>
                  <a:pt x="399590" y="2180269"/>
                </a:cubicBezTo>
                <a:cubicBezTo>
                  <a:pt x="399590" y="2290867"/>
                  <a:pt x="410279" y="2398884"/>
                  <a:pt x="430181" y="2503583"/>
                </a:cubicBezTo>
                <a:lnTo>
                  <a:pt x="434235" y="2523490"/>
                </a:lnTo>
                <a:lnTo>
                  <a:pt x="3781880" y="2523490"/>
                </a:lnTo>
                <a:lnTo>
                  <a:pt x="3785935" y="2503583"/>
                </a:lnTo>
                <a:cubicBezTo>
                  <a:pt x="3805837" y="2398884"/>
                  <a:pt x="3816525" y="2290867"/>
                  <a:pt x="3816525" y="2180269"/>
                </a:cubicBezTo>
                <a:cubicBezTo>
                  <a:pt x="3816525" y="1236136"/>
                  <a:pt x="3051760" y="471170"/>
                  <a:pt x="2108242" y="471170"/>
                </a:cubicBezTo>
                <a:close/>
                <a:moveTo>
                  <a:pt x="2109698" y="0"/>
                </a:moveTo>
                <a:cubicBezTo>
                  <a:pt x="3274673" y="0"/>
                  <a:pt x="4218940" y="943900"/>
                  <a:pt x="4218940" y="2108876"/>
                </a:cubicBezTo>
                <a:cubicBezTo>
                  <a:pt x="4218940" y="2245344"/>
                  <a:pt x="4205743" y="2378627"/>
                  <a:pt x="4181169" y="2507816"/>
                </a:cubicBezTo>
                <a:lnTo>
                  <a:pt x="4176164" y="2532380"/>
                </a:lnTo>
                <a:lnTo>
                  <a:pt x="42777" y="2532380"/>
                </a:lnTo>
                <a:lnTo>
                  <a:pt x="37771" y="2507816"/>
                </a:lnTo>
                <a:cubicBezTo>
                  <a:pt x="13197" y="2378627"/>
                  <a:pt x="0" y="2245344"/>
                  <a:pt x="0" y="2108876"/>
                </a:cubicBezTo>
                <a:cubicBezTo>
                  <a:pt x="0" y="943900"/>
                  <a:pt x="944267" y="0"/>
                  <a:pt x="210969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5000"/>
            </a:schemeClr>
          </a:solidFill>
          <a:ln w="3175"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1000"/>
                    <a:lumOff val="49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5" name="任意多边形 15"/>
          <p:cNvSpPr/>
          <p:nvPr>
            <p:custDataLst>
              <p:tags r:id="rId24"/>
            </p:custDataLst>
          </p:nvPr>
        </p:nvSpPr>
        <p:spPr>
          <a:xfrm>
            <a:off x="4391025" y="4544060"/>
            <a:ext cx="3416935" cy="20523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3175">
            <a:gradFill>
              <a:gsLst>
                <a:gs pos="37000">
                  <a:schemeClr val="accent1">
                    <a:lumMod val="5000"/>
                    <a:lumOff val="95000"/>
                  </a:schemeClr>
                </a:gs>
                <a:gs pos="0">
                  <a:schemeClr val="accent1">
                    <a:lumMod val="51000"/>
                    <a:lumOff val="49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 txBox="1"/>
          <p:nvPr/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230">
                <a:latin typeface="vivo Sans"/>
                <a:ea typeface="vivo Sans" panose="02000500000000000000" pitchFamily="2" charset="-122"/>
                <a:cs typeface="vivo Sans" panose="02000500000000000000" pitchFamily="2" charset="-122"/>
              </a:rPr>
              <a:t>作品策划</a:t>
            </a:r>
            <a:endParaRPr lang="zh-CN" altLang="en-US" sz="3200" b="1" spc="230">
              <a:solidFill>
                <a:schemeClr val="tx1"/>
              </a:solidFill>
              <a:uFillTx/>
              <a:latin typeface="vivo Sans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1020445" y="1172210"/>
            <a:ext cx="3030220" cy="853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背景与思考：</a:t>
            </a:r>
            <a:endParaRPr lang="zh-CN" altLang="en-US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kumimoji="1" lang="zh-CN" altLang="en-US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"/>
            </p:custDataLst>
          </p:nvPr>
        </p:nvCxnSpPr>
        <p:spPr>
          <a:xfrm>
            <a:off x="1652270" y="6600190"/>
            <a:ext cx="8890000" cy="0"/>
          </a:xfrm>
          <a:prstGeom prst="line">
            <a:avLst/>
          </a:prstGeom>
          <a:ln w="19050">
            <a:solidFill>
              <a:schemeClr val="accent1">
                <a:alpha val="15000"/>
              </a:schemeClr>
            </a:solidFill>
          </a:ln>
          <a:effectLst>
            <a:outerShdw blurRad="114300" dist="38100" dir="5400000" algn="t" rotWithShape="0">
              <a:schemeClr val="tx1">
                <a:alpha val="9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5319713" y="4035743"/>
            <a:ext cx="1548765" cy="1548765"/>
          </a:xfrm>
          <a:prstGeom prst="ellipse">
            <a:avLst/>
          </a:prstGeom>
          <a:noFill/>
          <a:ln w="6350">
            <a:solidFill>
              <a:schemeClr val="tx1">
                <a:lumMod val="65000"/>
                <a:lumOff val="35000"/>
                <a:alpha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弧形 27"/>
          <p:cNvSpPr/>
          <p:nvPr>
            <p:custDataLst>
              <p:tags r:id="rId3"/>
            </p:custDataLst>
          </p:nvPr>
        </p:nvSpPr>
        <p:spPr>
          <a:xfrm>
            <a:off x="4461828" y="3188018"/>
            <a:ext cx="3263900" cy="3264535"/>
          </a:xfrm>
          <a:prstGeom prst="arc">
            <a:avLst>
              <a:gd name="adj1" fmla="val 17303845"/>
              <a:gd name="adj2" fmla="val 301686"/>
            </a:avLst>
          </a:prstGeom>
          <a:ln>
            <a:solidFill>
              <a:schemeClr val="tx1">
                <a:lumMod val="65000"/>
                <a:lumOff val="35000"/>
                <a:alpha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弧形 4"/>
          <p:cNvSpPr/>
          <p:nvPr>
            <p:custDataLst>
              <p:tags r:id="rId4"/>
            </p:custDataLst>
          </p:nvPr>
        </p:nvSpPr>
        <p:spPr>
          <a:xfrm rot="11880000">
            <a:off x="4471353" y="3189288"/>
            <a:ext cx="3263900" cy="3264535"/>
          </a:xfrm>
          <a:prstGeom prst="arc">
            <a:avLst>
              <a:gd name="adj1" fmla="val 12653348"/>
              <a:gd name="adj2" fmla="val 17184069"/>
            </a:avLst>
          </a:prstGeom>
          <a:ln>
            <a:solidFill>
              <a:schemeClr val="tx1">
                <a:lumMod val="65000"/>
                <a:lumOff val="35000"/>
                <a:alpha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弧形 5"/>
          <p:cNvSpPr/>
          <p:nvPr>
            <p:custDataLst>
              <p:tags r:id="rId5"/>
            </p:custDataLst>
          </p:nvPr>
        </p:nvSpPr>
        <p:spPr>
          <a:xfrm rot="16500000">
            <a:off x="4471988" y="3189288"/>
            <a:ext cx="3264535" cy="3263900"/>
          </a:xfrm>
          <a:prstGeom prst="arc">
            <a:avLst>
              <a:gd name="adj1" fmla="val 15216311"/>
              <a:gd name="adj2" fmla="val 19822435"/>
            </a:avLst>
          </a:prstGeom>
          <a:ln>
            <a:solidFill>
              <a:schemeClr val="tx1">
                <a:lumMod val="65000"/>
                <a:lumOff val="35000"/>
                <a:alpha val="2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6971983" y="5111433"/>
            <a:ext cx="1043940" cy="1043940"/>
          </a:xfrm>
          <a:prstGeom prst="ellipse">
            <a:avLst/>
          </a:prstGeom>
          <a:noFill/>
          <a:ln w="6350">
            <a:solidFill>
              <a:schemeClr val="tx1">
                <a:lumMod val="65000"/>
                <a:lumOff val="35000"/>
                <a:alpha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3" name="任意多边形: 形状 42"/>
          <p:cNvSpPr/>
          <p:nvPr>
            <p:custDataLst>
              <p:tags r:id="rId7"/>
            </p:custDataLst>
          </p:nvPr>
        </p:nvSpPr>
        <p:spPr>
          <a:xfrm>
            <a:off x="7079933" y="5219383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/>
          </a:p>
        </p:txBody>
      </p:sp>
      <p:sp>
        <p:nvSpPr>
          <p:cNvPr id="9" name="任意多边形: 形状 3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461953" y="4178618"/>
            <a:ext cx="1260000" cy="1260000"/>
          </a:xfrm>
          <a:custGeom>
            <a:avLst/>
            <a:gdLst>
              <a:gd name="connsiteX0" fmla="*/ 0 w 1536103"/>
              <a:gd name="connsiteY0" fmla="*/ 768052 h 1536103"/>
              <a:gd name="connsiteX1" fmla="*/ 768052 w 1536103"/>
              <a:gd name="connsiteY1" fmla="*/ 0 h 1536103"/>
              <a:gd name="connsiteX2" fmla="*/ 1536104 w 1536103"/>
              <a:gd name="connsiteY2" fmla="*/ 768052 h 1536103"/>
              <a:gd name="connsiteX3" fmla="*/ 768052 w 1536103"/>
              <a:gd name="connsiteY3" fmla="*/ 1536104 h 1536103"/>
              <a:gd name="connsiteX4" fmla="*/ 0 w 1536103"/>
              <a:gd name="connsiteY4" fmla="*/ 768052 h 1536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6103" h="1536103">
                <a:moveTo>
                  <a:pt x="0" y="768052"/>
                </a:moveTo>
                <a:cubicBezTo>
                  <a:pt x="0" y="343869"/>
                  <a:pt x="343869" y="0"/>
                  <a:pt x="768052" y="0"/>
                </a:cubicBezTo>
                <a:cubicBezTo>
                  <a:pt x="1192235" y="0"/>
                  <a:pt x="1536104" y="343869"/>
                  <a:pt x="1536104" y="768052"/>
                </a:cubicBezTo>
                <a:cubicBezTo>
                  <a:pt x="1536104" y="1192235"/>
                  <a:pt x="1192235" y="1536104"/>
                  <a:pt x="768052" y="1536104"/>
                </a:cubicBezTo>
                <a:cubicBezTo>
                  <a:pt x="343869" y="1536104"/>
                  <a:pt x="0" y="1192235"/>
                  <a:pt x="0" y="76805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0" vertOverflow="overflow" horzOverflow="overflow" vert="horz" wrap="square" lIns="71755" tIns="71755" rIns="71755" bIns="71755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600" b="1">
                <a:solidFill>
                  <a:srgbClr val="FFFFFF"/>
                </a:solidFill>
                <a:latin typeface="+mj-ea"/>
                <a:ea typeface="+mj-ea"/>
                <a:cs typeface="+mj-ea"/>
                <a:sym typeface="+mn-ea"/>
              </a:rPr>
              <a:t>人群分析</a:t>
            </a:r>
            <a:endParaRPr lang="zh-CN" altLang="en-US" sz="1600" b="1">
              <a:solidFill>
                <a:srgbClr val="FFFFFF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63" name="文本框 62"/>
          <p:cNvSpPr txBox="1"/>
          <p:nvPr>
            <p:custDataLst>
              <p:tags r:id="rId9"/>
            </p:custDataLst>
          </p:nvPr>
        </p:nvSpPr>
        <p:spPr>
          <a:xfrm>
            <a:off x="8160068" y="5411153"/>
            <a:ext cx="4091940" cy="8896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电商平台：辅助审核违规广告，监控卖家行为，降低投诉率</a:t>
            </a:r>
            <a:endParaRPr lang="zh-CN" altLang="en-US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43193" y="5421313"/>
            <a:ext cx="3905885" cy="87947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监管部门：监测欺诈行为，定位高风险店铺，辅助执法</a:t>
            </a:r>
            <a:endParaRPr lang="zh-CN" altLang="en-US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>
            <a:off x="5571808" y="2654618"/>
            <a:ext cx="1043940" cy="1043940"/>
          </a:xfrm>
          <a:prstGeom prst="ellipse">
            <a:avLst/>
          </a:prstGeom>
          <a:noFill/>
          <a:ln w="6350">
            <a:solidFill>
              <a:schemeClr val="tx1">
                <a:lumMod val="65000"/>
                <a:lumOff val="35000"/>
                <a:alpha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" name="任意多边形: 形状 45"/>
          <p:cNvSpPr/>
          <p:nvPr>
            <p:custDataLst>
              <p:tags r:id="rId12"/>
            </p:custDataLst>
          </p:nvPr>
        </p:nvSpPr>
        <p:spPr>
          <a:xfrm>
            <a:off x="5679758" y="2762568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3"/>
            </p:custDataLst>
          </p:nvPr>
        </p:nvSpPr>
        <p:spPr>
          <a:xfrm>
            <a:off x="4161473" y="5111433"/>
            <a:ext cx="1043940" cy="1043940"/>
          </a:xfrm>
          <a:prstGeom prst="ellipse">
            <a:avLst/>
          </a:prstGeom>
          <a:noFill/>
          <a:ln w="6350">
            <a:solidFill>
              <a:schemeClr val="tx1">
                <a:lumMod val="65000"/>
                <a:lumOff val="35000"/>
                <a:alpha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20" name="图片 15" descr="343439383331313b343532303033313bd3a6d3c3c9ccb3c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0268" y="3032443"/>
            <a:ext cx="288000" cy="288000"/>
          </a:xfrm>
          <a:prstGeom prst="rect">
            <a:avLst/>
          </a:prstGeom>
        </p:spPr>
      </p:pic>
      <p:sp>
        <p:nvSpPr>
          <p:cNvPr id="22" name="任意多边形: 形状 44"/>
          <p:cNvSpPr/>
          <p:nvPr>
            <p:custDataLst>
              <p:tags r:id="rId17"/>
            </p:custDataLst>
          </p:nvPr>
        </p:nvSpPr>
        <p:spPr>
          <a:xfrm>
            <a:off x="4269423" y="5219383"/>
            <a:ext cx="828675" cy="828675"/>
          </a:xfrm>
          <a:custGeom>
            <a:avLst/>
            <a:gdLst>
              <a:gd name="connsiteX0" fmla="*/ 0 w 1075272"/>
              <a:gd name="connsiteY0" fmla="*/ 537636 h 1075272"/>
              <a:gd name="connsiteX1" fmla="*/ 537636 w 1075272"/>
              <a:gd name="connsiteY1" fmla="*/ 0 h 1075272"/>
              <a:gd name="connsiteX2" fmla="*/ 1075272 w 1075272"/>
              <a:gd name="connsiteY2" fmla="*/ 537636 h 1075272"/>
              <a:gd name="connsiteX3" fmla="*/ 537636 w 1075272"/>
              <a:gd name="connsiteY3" fmla="*/ 1075272 h 1075272"/>
              <a:gd name="connsiteX4" fmla="*/ 0 w 1075272"/>
              <a:gd name="connsiteY4" fmla="*/ 537636 h 107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5272" h="1075272">
                <a:moveTo>
                  <a:pt x="0" y="537636"/>
                </a:moveTo>
                <a:cubicBezTo>
                  <a:pt x="0" y="240708"/>
                  <a:pt x="240708" y="0"/>
                  <a:pt x="537636" y="0"/>
                </a:cubicBezTo>
                <a:cubicBezTo>
                  <a:pt x="834564" y="0"/>
                  <a:pt x="1075272" y="240708"/>
                  <a:pt x="1075272" y="537636"/>
                </a:cubicBezTo>
                <a:cubicBezTo>
                  <a:pt x="1075272" y="834564"/>
                  <a:pt x="834564" y="1075272"/>
                  <a:pt x="537636" y="1075272"/>
                </a:cubicBezTo>
                <a:cubicBezTo>
                  <a:pt x="240708" y="1075272"/>
                  <a:pt x="0" y="834564"/>
                  <a:pt x="0" y="537636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1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50800" dist="381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/>
          </a:p>
        </p:txBody>
      </p:sp>
      <p:pic>
        <p:nvPicPr>
          <p:cNvPr id="13" name="图片 20" descr="343435383038363b343532323339383bd6b4d0d0cad6b6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39298" y="5489258"/>
            <a:ext cx="288000" cy="288000"/>
          </a:xfrm>
          <a:prstGeom prst="rect">
            <a:avLst/>
          </a:prstGeom>
        </p:spPr>
      </p:pic>
      <p:pic>
        <p:nvPicPr>
          <p:cNvPr id="15" name="图片 19" descr="343435383038363b343532323339393bd6b4d0d0d5aad2aa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49808" y="5489258"/>
            <a:ext cx="288000" cy="2880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3069908" y="1681163"/>
            <a:ext cx="6073140" cy="9785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普通消费者：需快速验真商品</a:t>
            </a:r>
            <a:r>
              <a:rPr lang="en-US" altLang="zh-CN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 / </a:t>
            </a:r>
            <a:r>
              <a:rPr lang="zh-CN" altLang="en-US" sz="20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卖家，规避交易风险（购前咨询、交易预警、大额确认）</a:t>
            </a:r>
            <a:endParaRPr lang="zh-CN" altLang="en-US" sz="2000" spc="150">
              <a:solidFill>
                <a:schemeClr val="tx1">
                  <a:lumMod val="65000"/>
                  <a:lumOff val="35000"/>
                </a:schemeClr>
              </a:solidFill>
              <a:uFillTx/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矩形: 圆角 3"/>
          <p:cNvSpPr/>
          <p:nvPr>
            <p:custDataLst>
              <p:tags r:id="rId1"/>
            </p:custDataLst>
          </p:nvPr>
        </p:nvSpPr>
        <p:spPr>
          <a:xfrm>
            <a:off x="609600" y="1526540"/>
            <a:ext cx="11207115" cy="4721860"/>
          </a:xfrm>
          <a:prstGeom prst="roundRect">
            <a:avLst>
              <a:gd name="adj" fmla="val 4859"/>
            </a:avLst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27000" dist="76200" dir="3600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7" name="矩形: 圆角 3"/>
          <p:cNvSpPr/>
          <p:nvPr>
            <p:custDataLst>
              <p:tags r:id="rId2"/>
            </p:custDataLst>
          </p:nvPr>
        </p:nvSpPr>
        <p:spPr>
          <a:xfrm>
            <a:off x="609600" y="1526540"/>
            <a:ext cx="11207115" cy="4721860"/>
          </a:xfrm>
          <a:prstGeom prst="roundRect">
            <a:avLst>
              <a:gd name="adj" fmla="val 4859"/>
            </a:avLst>
          </a:prstGeom>
          <a:solidFill>
            <a:srgbClr val="FFFFFF">
              <a:alpha val="20000"/>
            </a:srgbClr>
          </a:solidFill>
          <a:ln w="9525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作品策划</a:t>
            </a:r>
            <a:endParaRPr lang="zh-CN" altLang="en-US"/>
          </a:p>
        </p:txBody>
      </p:sp>
      <p:sp>
        <p:nvSpPr>
          <p:cNvPr id="4" name="矩形: 圆角 3"/>
          <p:cNvSpPr/>
          <p:nvPr>
            <p:custDataLst>
              <p:tags r:id="rId4"/>
            </p:custDataLst>
          </p:nvPr>
        </p:nvSpPr>
        <p:spPr>
          <a:xfrm>
            <a:off x="9398000" y="1526540"/>
            <a:ext cx="2418715" cy="4721860"/>
          </a:xfrm>
          <a:custGeom>
            <a:avLst/>
            <a:gdLst>
              <a:gd name="adj" fmla="val 4859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09" h="7436">
                <a:moveTo>
                  <a:pt x="0" y="0"/>
                </a:moveTo>
                <a:lnTo>
                  <a:pt x="3448" y="0"/>
                </a:lnTo>
                <a:cubicBezTo>
                  <a:pt x="3647" y="0"/>
                  <a:pt x="3809" y="162"/>
                  <a:pt x="3809" y="361"/>
                </a:cubicBezTo>
                <a:lnTo>
                  <a:pt x="3809" y="7075"/>
                </a:lnTo>
                <a:cubicBezTo>
                  <a:pt x="3809" y="7274"/>
                  <a:pt x="3647" y="7436"/>
                  <a:pt x="3448" y="7436"/>
                </a:cubicBezTo>
                <a:lnTo>
                  <a:pt x="0" y="74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6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9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049020" y="2804255"/>
            <a:ext cx="10328400" cy="29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 flipV="1">
            <a:off x="10247333" y="1893315"/>
            <a:ext cx="720000" cy="53690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28" h="1413">
                <a:moveTo>
                  <a:pt x="485" y="0"/>
                </a:moveTo>
                <a:lnTo>
                  <a:pt x="615" y="206"/>
                </a:lnTo>
                <a:cubicBezTo>
                  <a:pt x="507" y="251"/>
                  <a:pt x="428" y="318"/>
                  <a:pt x="377" y="408"/>
                </a:cubicBezTo>
                <a:cubicBezTo>
                  <a:pt x="326" y="497"/>
                  <a:pt x="297" y="627"/>
                  <a:pt x="291" y="798"/>
                </a:cubicBezTo>
                <a:lnTo>
                  <a:pt x="568" y="798"/>
                </a:lnTo>
                <a:lnTo>
                  <a:pt x="568" y="1413"/>
                </a:lnTo>
                <a:lnTo>
                  <a:pt x="0" y="1413"/>
                </a:lnTo>
                <a:lnTo>
                  <a:pt x="0" y="927"/>
                </a:lnTo>
                <a:cubicBezTo>
                  <a:pt x="0" y="664"/>
                  <a:pt x="31" y="474"/>
                  <a:pt x="94" y="356"/>
                </a:cubicBezTo>
                <a:cubicBezTo>
                  <a:pt x="177" y="199"/>
                  <a:pt x="307" y="80"/>
                  <a:pt x="485" y="0"/>
                </a:cubicBezTo>
                <a:close/>
                <a:moveTo>
                  <a:pt x="1398" y="0"/>
                </a:moveTo>
                <a:lnTo>
                  <a:pt x="1528" y="206"/>
                </a:lnTo>
                <a:cubicBezTo>
                  <a:pt x="1420" y="251"/>
                  <a:pt x="1340" y="318"/>
                  <a:pt x="1290" y="408"/>
                </a:cubicBezTo>
                <a:cubicBezTo>
                  <a:pt x="1239" y="497"/>
                  <a:pt x="1210" y="627"/>
                  <a:pt x="1204" y="798"/>
                </a:cubicBezTo>
                <a:lnTo>
                  <a:pt x="1481" y="798"/>
                </a:lnTo>
                <a:lnTo>
                  <a:pt x="1481" y="1413"/>
                </a:lnTo>
                <a:lnTo>
                  <a:pt x="912" y="1413"/>
                </a:lnTo>
                <a:lnTo>
                  <a:pt x="912" y="927"/>
                </a:lnTo>
                <a:cubicBezTo>
                  <a:pt x="912" y="664"/>
                  <a:pt x="944" y="474"/>
                  <a:pt x="1006" y="356"/>
                </a:cubicBezTo>
                <a:cubicBezTo>
                  <a:pt x="1089" y="199"/>
                  <a:pt x="1220" y="80"/>
                  <a:pt x="139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1049020" y="1788795"/>
            <a:ext cx="8091805" cy="746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kern="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现有解决方案局限</a:t>
            </a:r>
            <a:endParaRPr lang="zh-CN" altLang="en-US" sz="1600" kern="0" spc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graphicFrame>
        <p:nvGraphicFramePr>
          <p:cNvPr id="3" name="表格 1"/>
          <p:cNvGraphicFramePr/>
          <p:nvPr/>
        </p:nvGraphicFramePr>
        <p:xfrm>
          <a:off x="1049020" y="2803525"/>
          <a:ext cx="10328275" cy="299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685"/>
                <a:gridCol w="8149590"/>
              </a:tblGrid>
              <a:tr h="103695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altLang="en-US" sz="2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2100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97917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人工审核</a:t>
                      </a:r>
                      <a:endParaRPr lang="zh-CN" alt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效率低（</a:t>
                      </a:r>
                      <a:r>
                        <a:rPr lang="en-US" altLang="zh-CN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3-5 </a:t>
                      </a: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分钟 </a:t>
                      </a:r>
                      <a:r>
                        <a:rPr lang="en-US" altLang="zh-CN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条）、成本高、识别滞后、标准不统一</a:t>
                      </a:r>
                      <a:endParaRPr lang="zh-CN" alt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  <a:tr h="97917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关键词匹配</a:t>
                      </a:r>
                      <a:endParaRPr lang="zh-CN" alt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900" b="0" spc="13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无法理解语义，误判漏判多，对复杂欺诈无效</a:t>
                      </a:r>
                      <a:endParaRPr lang="zh-CN" altLang="en-US" sz="1900" b="0" spc="13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15900" marR="215900" marT="133350" marB="133350" anchor="ctr"/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51180" y="8362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背景与思考：</a:t>
            </a:r>
            <a:endParaRPr lang="zh-CN" altLang="en-US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>
                <a:sym typeface="+mn-ea"/>
              </a:rPr>
              <a:t>作品策划</a:t>
            </a: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3" name="圆角矩形 1"/>
          <p:cNvSpPr/>
          <p:nvPr>
            <p:custDataLst>
              <p:tags r:id="rId2"/>
            </p:custDataLst>
          </p:nvPr>
        </p:nvSpPr>
        <p:spPr>
          <a:xfrm>
            <a:off x="1138317" y="2417280"/>
            <a:ext cx="548036" cy="548036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76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1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2027418" y="1993565"/>
            <a:ext cx="9018102" cy="2153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核心技术优势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：基于 vivo 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蓝心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大模型的智能反诈引擎，基于</a:t>
            </a: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特异化</a:t>
            </a:r>
            <a:r>
              <a:rPr lang="en-US" alt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prompt</a:t>
            </a: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工程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集成拟人化交互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系统 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+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多</a:t>
            </a: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维风险评估模型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（价格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异常检测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平台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信誉分析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宣传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内容识别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支付安全评估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等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）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+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实时 RAG 检索增强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(10000+诈骗知识库)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+ </a:t>
            </a:r>
            <a:r>
              <a:rPr lang="en-US" altLang="zh-CN" sz="2000" b="1" kern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特异化查询改写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+</a:t>
            </a:r>
            <a:r>
              <a:rPr lang="en-US" alt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2000" b="1" kern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智能function_call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(</a:t>
            </a:r>
            <a:r>
              <a:rPr lang="en-US" altLang="zh-CN" sz="2000" kern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包括智能调用联网搜索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) +</a:t>
            </a:r>
            <a:r>
              <a:rPr lang="en-US" altLang="zh-CN" sz="2000" b="1" kern="0" err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智能化反诈工作流</a:t>
            </a:r>
            <a:r>
              <a:rPr lang="en-US" alt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 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+</a:t>
            </a: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量化风险评分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（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0-10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星精准评级）</a:t>
            </a:r>
            <a:r>
              <a:rPr lang="en-US" alt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+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精美</a:t>
            </a: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快应用</a:t>
            </a:r>
            <a:r>
              <a:rPr lang="zh-CN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和webapp</a:t>
            </a:r>
            <a:r>
              <a:rPr lang="zh-CN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。</a:t>
            </a:r>
            <a:endParaRPr lang="zh-CN" sz="2000" kern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>
            <a:off x="1686848" y="4112110"/>
            <a:ext cx="9890879" cy="1166"/>
          </a:xfrm>
          <a:prstGeom prst="line">
            <a:avLst/>
          </a:prstGeom>
          <a:ln>
            <a:solidFill>
              <a:schemeClr val="accent2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2026835" y="4686381"/>
            <a:ext cx="9018102" cy="168491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核心价值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：基于 vivo 蓝心 AI 引擎，通过 OpenAI 兼容 API 实现反诈技术</a:t>
            </a:r>
            <a:r>
              <a:rPr lang="zh-CN" altLang="en-US" sz="2000" b="1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普惠化</a:t>
            </a:r>
            <a:r>
              <a:rPr lang="zh-CN" altLang="en-US" sz="2000" kern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，构建【商品识别-平台验证-交易分析-风险预警】全链路安全屏障。为个人用户、企业机构、监管部门提供量化风险数据支撑，形成"技术赋能-用户自护-行业自律-监管协同"的协同治理生态，系统性降低全社会反诈成本。</a:t>
            </a:r>
            <a:endParaRPr lang="zh-C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圆角矩形 7"/>
          <p:cNvSpPr/>
          <p:nvPr>
            <p:custDataLst>
              <p:tags r:id="rId6"/>
            </p:custDataLst>
          </p:nvPr>
        </p:nvSpPr>
        <p:spPr>
          <a:xfrm>
            <a:off x="1137734" y="5254822"/>
            <a:ext cx="548036" cy="548036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76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177800" dist="38100" dir="2700000" algn="tl" rotWithShape="0">
              <a:schemeClr val="accent2">
                <a:lumMod val="75000"/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pic>
        <p:nvPicPr>
          <p:cNvPr id="13" name="图片 12" descr="343439383331313b343532303031393bd2b5bca8b9dcc0ed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6581" y="2545544"/>
            <a:ext cx="291508" cy="291508"/>
          </a:xfrm>
          <a:prstGeom prst="rect">
            <a:avLst/>
          </a:prstGeom>
        </p:spPr>
      </p:pic>
      <p:pic>
        <p:nvPicPr>
          <p:cNvPr id="24" name="图片 23" descr="343439383331313b343532303032303bb8f6c8cbd0c5cfa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67747" y="5384835"/>
            <a:ext cx="288011" cy="28801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11225" y="11963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40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  <a:sym typeface="+mn-ea"/>
              </a:rPr>
              <a:t>背景与思考：</a:t>
            </a:r>
            <a:endParaRPr lang="zh-CN" altLang="en-US" sz="240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/>
              <a:t>产品设计思路</a:t>
            </a:r>
            <a:endParaRPr lang="zh-CN" altLang="en-US"/>
          </a:p>
        </p:txBody>
      </p:sp>
      <p:grpSp>
        <p:nvGrpSpPr>
          <p:cNvPr id="4" name="组合 3" descr="7b0a202020202274657874626f78223a20227b5c2269645c223a32303334383534312c5c227469645c223a5c225c227d220a7d0a"/>
          <p:cNvGrpSpPr/>
          <p:nvPr/>
        </p:nvGrpSpPr>
        <p:grpSpPr>
          <a:xfrm>
            <a:off x="1034415" y="1266825"/>
            <a:ext cx="9479280" cy="4484370"/>
            <a:chOff x="3067050" y="2067877"/>
            <a:chExt cx="6057900" cy="2809874"/>
          </a:xfrm>
        </p:grpSpPr>
        <p:grpSp>
          <p:nvGrpSpPr>
            <p:cNvPr id="5" name="组合 4"/>
            <p:cNvGrpSpPr/>
            <p:nvPr/>
          </p:nvGrpSpPr>
          <p:grpSpPr>
            <a:xfrm>
              <a:off x="3067050" y="2067877"/>
              <a:ext cx="6057900" cy="2809874"/>
              <a:chOff x="3067050" y="2067877"/>
              <a:chExt cx="6057900" cy="2809874"/>
            </a:xfrm>
          </p:grpSpPr>
          <p:sp>
            <p:nvSpPr>
              <p:cNvPr id="6" name="任意多边形: 形状 4"/>
              <p:cNvSpPr/>
              <p:nvPr/>
            </p:nvSpPr>
            <p:spPr>
              <a:xfrm>
                <a:off x="4582160" y="2189797"/>
                <a:ext cx="4542790" cy="9525"/>
              </a:xfrm>
              <a:custGeom>
                <a:avLst/>
                <a:gdLst>
                  <a:gd name="connsiteX0" fmla="*/ 0 w 4543424"/>
                  <a:gd name="connsiteY0" fmla="*/ 0 h 9525"/>
                  <a:gd name="connsiteX1" fmla="*/ 4543425 w 454342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43424" h="9525">
                    <a:moveTo>
                      <a:pt x="0" y="0"/>
                    </a:moveTo>
                    <a:lnTo>
                      <a:pt x="4543425" y="0"/>
                    </a:lnTo>
                  </a:path>
                </a:pathLst>
              </a:custGeom>
              <a:ln w="19050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7" name="任意多边形: 形状 5"/>
              <p:cNvSpPr/>
              <p:nvPr/>
            </p:nvSpPr>
            <p:spPr>
              <a:xfrm>
                <a:off x="3067050" y="4832032"/>
                <a:ext cx="6057900" cy="45719"/>
              </a:xfrm>
              <a:custGeom>
                <a:avLst/>
                <a:gdLst>
                  <a:gd name="connsiteX0" fmla="*/ 0 w 5274309"/>
                  <a:gd name="connsiteY0" fmla="*/ 0 h 8255"/>
                  <a:gd name="connsiteX1" fmla="*/ 5274310 w 5274309"/>
                  <a:gd name="connsiteY1" fmla="*/ 0 h 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74309" h="8255">
                    <a:moveTo>
                      <a:pt x="0" y="0"/>
                    </a:moveTo>
                    <a:lnTo>
                      <a:pt x="5274310" y="0"/>
                    </a:lnTo>
                  </a:path>
                </a:pathLst>
              </a:custGeom>
              <a:ln w="16564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8" name="任意多边形: 形状 6"/>
              <p:cNvSpPr/>
              <p:nvPr/>
            </p:nvSpPr>
            <p:spPr>
              <a:xfrm>
                <a:off x="3067050" y="2067877"/>
                <a:ext cx="1275080" cy="253365"/>
              </a:xfrm>
              <a:custGeom>
                <a:avLst/>
                <a:gdLst>
                  <a:gd name="connsiteX0" fmla="*/ 53340 w 1275587"/>
                  <a:gd name="connsiteY0" fmla="*/ 249631 h 253898"/>
                  <a:gd name="connsiteX1" fmla="*/ 0 w 1275587"/>
                  <a:gd name="connsiteY1" fmla="*/ 249631 h 253898"/>
                  <a:gd name="connsiteX2" fmla="*/ 0 w 1275587"/>
                  <a:gd name="connsiteY2" fmla="*/ 4267 h 253898"/>
                  <a:gd name="connsiteX3" fmla="*/ 49073 w 1275587"/>
                  <a:gd name="connsiteY3" fmla="*/ 4267 h 253898"/>
                  <a:gd name="connsiteX4" fmla="*/ 144475 w 1275587"/>
                  <a:gd name="connsiteY4" fmla="*/ 149047 h 253898"/>
                  <a:gd name="connsiteX5" fmla="*/ 146304 w 1275587"/>
                  <a:gd name="connsiteY5" fmla="*/ 149047 h 253898"/>
                  <a:gd name="connsiteX6" fmla="*/ 146304 w 1275587"/>
                  <a:gd name="connsiteY6" fmla="*/ 4267 h 253898"/>
                  <a:gd name="connsiteX7" fmla="*/ 199644 w 1275587"/>
                  <a:gd name="connsiteY7" fmla="*/ 4267 h 253898"/>
                  <a:gd name="connsiteX8" fmla="*/ 199644 w 1275587"/>
                  <a:gd name="connsiteY8" fmla="*/ 249631 h 253898"/>
                  <a:gd name="connsiteX9" fmla="*/ 153314 w 1275587"/>
                  <a:gd name="connsiteY9" fmla="*/ 249631 h 253898"/>
                  <a:gd name="connsiteX10" fmla="*/ 55169 w 1275587"/>
                  <a:gd name="connsiteY10" fmla="*/ 104851 h 253898"/>
                  <a:gd name="connsiteX11" fmla="*/ 53340 w 1275587"/>
                  <a:gd name="connsiteY11" fmla="*/ 104851 h 253898"/>
                  <a:gd name="connsiteX12" fmla="*/ 53340 w 1275587"/>
                  <a:gd name="connsiteY12" fmla="*/ 249631 h 253898"/>
                  <a:gd name="connsiteX13" fmla="*/ 397764 w 1275587"/>
                  <a:gd name="connsiteY13" fmla="*/ 253898 h 253898"/>
                  <a:gd name="connsiteX14" fmla="*/ 337871 w 1275587"/>
                  <a:gd name="connsiteY14" fmla="*/ 238354 h 253898"/>
                  <a:gd name="connsiteX15" fmla="*/ 298704 w 1275587"/>
                  <a:gd name="connsiteY15" fmla="*/ 194310 h 253898"/>
                  <a:gd name="connsiteX16" fmla="*/ 284988 w 1275587"/>
                  <a:gd name="connsiteY16" fmla="*/ 127102 h 253898"/>
                  <a:gd name="connsiteX17" fmla="*/ 298704 w 1275587"/>
                  <a:gd name="connsiteY17" fmla="*/ 59741 h 253898"/>
                  <a:gd name="connsiteX18" fmla="*/ 337871 w 1275587"/>
                  <a:gd name="connsiteY18" fmla="*/ 15545 h 253898"/>
                  <a:gd name="connsiteX19" fmla="*/ 397764 w 1275587"/>
                  <a:gd name="connsiteY19" fmla="*/ 0 h 253898"/>
                  <a:gd name="connsiteX20" fmla="*/ 457505 w 1275587"/>
                  <a:gd name="connsiteY20" fmla="*/ 15545 h 253898"/>
                  <a:gd name="connsiteX21" fmla="*/ 496519 w 1275587"/>
                  <a:gd name="connsiteY21" fmla="*/ 59741 h 253898"/>
                  <a:gd name="connsiteX22" fmla="*/ 510235 w 1275587"/>
                  <a:gd name="connsiteY22" fmla="*/ 127102 h 253898"/>
                  <a:gd name="connsiteX23" fmla="*/ 496519 w 1275587"/>
                  <a:gd name="connsiteY23" fmla="*/ 194310 h 253898"/>
                  <a:gd name="connsiteX24" fmla="*/ 457505 w 1275587"/>
                  <a:gd name="connsiteY24" fmla="*/ 238354 h 253898"/>
                  <a:gd name="connsiteX25" fmla="*/ 397764 w 1275587"/>
                  <a:gd name="connsiteY25" fmla="*/ 253898 h 253898"/>
                  <a:gd name="connsiteX26" fmla="*/ 397764 w 1275587"/>
                  <a:gd name="connsiteY26" fmla="*/ 203911 h 253898"/>
                  <a:gd name="connsiteX27" fmla="*/ 440131 w 1275587"/>
                  <a:gd name="connsiteY27" fmla="*/ 183185 h 253898"/>
                  <a:gd name="connsiteX28" fmla="*/ 455676 w 1275587"/>
                  <a:gd name="connsiteY28" fmla="*/ 127102 h 253898"/>
                  <a:gd name="connsiteX29" fmla="*/ 440131 w 1275587"/>
                  <a:gd name="connsiteY29" fmla="*/ 70866 h 253898"/>
                  <a:gd name="connsiteX30" fmla="*/ 397764 w 1275587"/>
                  <a:gd name="connsiteY30" fmla="*/ 49987 h 253898"/>
                  <a:gd name="connsiteX31" fmla="*/ 355244 w 1275587"/>
                  <a:gd name="connsiteY31" fmla="*/ 70866 h 253898"/>
                  <a:gd name="connsiteX32" fmla="*/ 339547 w 1275587"/>
                  <a:gd name="connsiteY32" fmla="*/ 127102 h 253898"/>
                  <a:gd name="connsiteX33" fmla="*/ 355244 w 1275587"/>
                  <a:gd name="connsiteY33" fmla="*/ 183185 h 253898"/>
                  <a:gd name="connsiteX34" fmla="*/ 397764 w 1275587"/>
                  <a:gd name="connsiteY34" fmla="*/ 203911 h 253898"/>
                  <a:gd name="connsiteX35" fmla="*/ 704088 w 1275587"/>
                  <a:gd name="connsiteY35" fmla="*/ 249631 h 253898"/>
                  <a:gd name="connsiteX36" fmla="*/ 650748 w 1275587"/>
                  <a:gd name="connsiteY36" fmla="*/ 249631 h 253898"/>
                  <a:gd name="connsiteX37" fmla="*/ 650748 w 1275587"/>
                  <a:gd name="connsiteY37" fmla="*/ 54254 h 253898"/>
                  <a:gd name="connsiteX38" fmla="*/ 583692 w 1275587"/>
                  <a:gd name="connsiteY38" fmla="*/ 54254 h 253898"/>
                  <a:gd name="connsiteX39" fmla="*/ 583692 w 1275587"/>
                  <a:gd name="connsiteY39" fmla="*/ 4267 h 253898"/>
                  <a:gd name="connsiteX40" fmla="*/ 770839 w 1275587"/>
                  <a:gd name="connsiteY40" fmla="*/ 4267 h 253898"/>
                  <a:gd name="connsiteX41" fmla="*/ 770839 w 1275587"/>
                  <a:gd name="connsiteY41" fmla="*/ 54254 h 253898"/>
                  <a:gd name="connsiteX42" fmla="*/ 704088 w 1275587"/>
                  <a:gd name="connsiteY42" fmla="*/ 54254 h 253898"/>
                  <a:gd name="connsiteX43" fmla="*/ 704088 w 1275587"/>
                  <a:gd name="connsiteY43" fmla="*/ 249631 h 253898"/>
                  <a:gd name="connsiteX44" fmla="*/ 904342 w 1275587"/>
                  <a:gd name="connsiteY44" fmla="*/ 149352 h 253898"/>
                  <a:gd name="connsiteX45" fmla="*/ 904342 w 1275587"/>
                  <a:gd name="connsiteY45" fmla="*/ 201168 h 253898"/>
                  <a:gd name="connsiteX46" fmla="*/ 1015594 w 1275587"/>
                  <a:gd name="connsiteY46" fmla="*/ 201168 h 253898"/>
                  <a:gd name="connsiteX47" fmla="*/ 1015594 w 1275587"/>
                  <a:gd name="connsiteY47" fmla="*/ 249631 h 253898"/>
                  <a:gd name="connsiteX48" fmla="*/ 851002 w 1275587"/>
                  <a:gd name="connsiteY48" fmla="*/ 249631 h 253898"/>
                  <a:gd name="connsiteX49" fmla="*/ 851002 w 1275587"/>
                  <a:gd name="connsiteY49" fmla="*/ 4267 h 253898"/>
                  <a:gd name="connsiteX50" fmla="*/ 1011936 w 1275587"/>
                  <a:gd name="connsiteY50" fmla="*/ 4267 h 253898"/>
                  <a:gd name="connsiteX51" fmla="*/ 1011936 w 1275587"/>
                  <a:gd name="connsiteY51" fmla="*/ 52730 h 253898"/>
                  <a:gd name="connsiteX52" fmla="*/ 904342 w 1275587"/>
                  <a:gd name="connsiteY52" fmla="*/ 52730 h 253898"/>
                  <a:gd name="connsiteX53" fmla="*/ 904342 w 1275587"/>
                  <a:gd name="connsiteY53" fmla="*/ 100889 h 253898"/>
                  <a:gd name="connsiteX54" fmla="*/ 1006145 w 1275587"/>
                  <a:gd name="connsiteY54" fmla="*/ 100889 h 253898"/>
                  <a:gd name="connsiteX55" fmla="*/ 1006145 w 1275587"/>
                  <a:gd name="connsiteY55" fmla="*/ 149352 h 253898"/>
                  <a:gd name="connsiteX56" fmla="*/ 904342 w 1275587"/>
                  <a:gd name="connsiteY56" fmla="*/ 149352 h 253898"/>
                  <a:gd name="connsiteX57" fmla="*/ 1180490 w 1275587"/>
                  <a:gd name="connsiteY57" fmla="*/ 253898 h 253898"/>
                  <a:gd name="connsiteX58" fmla="*/ 1121969 w 1275587"/>
                  <a:gd name="connsiteY58" fmla="*/ 237287 h 253898"/>
                  <a:gd name="connsiteX59" fmla="*/ 1084478 w 1275587"/>
                  <a:gd name="connsiteY59" fmla="*/ 193243 h 253898"/>
                  <a:gd name="connsiteX60" fmla="*/ 1130808 w 1275587"/>
                  <a:gd name="connsiteY60" fmla="*/ 171602 h 253898"/>
                  <a:gd name="connsiteX61" fmla="*/ 1150315 w 1275587"/>
                  <a:gd name="connsiteY61" fmla="*/ 196596 h 253898"/>
                  <a:gd name="connsiteX62" fmla="*/ 1180795 w 1275587"/>
                  <a:gd name="connsiteY62" fmla="*/ 205130 h 253898"/>
                  <a:gd name="connsiteX63" fmla="*/ 1209446 w 1275587"/>
                  <a:gd name="connsiteY63" fmla="*/ 198425 h 253898"/>
                  <a:gd name="connsiteX64" fmla="*/ 1220114 w 1275587"/>
                  <a:gd name="connsiteY64" fmla="*/ 181051 h 253898"/>
                  <a:gd name="connsiteX65" fmla="*/ 1216152 w 1275587"/>
                  <a:gd name="connsiteY65" fmla="*/ 168402 h 253898"/>
                  <a:gd name="connsiteX66" fmla="*/ 1202436 w 1275587"/>
                  <a:gd name="connsiteY66" fmla="*/ 159106 h 253898"/>
                  <a:gd name="connsiteX67" fmla="*/ 1174090 w 1275587"/>
                  <a:gd name="connsiteY67" fmla="*/ 149657 h 253898"/>
                  <a:gd name="connsiteX68" fmla="*/ 1133551 w 1275587"/>
                  <a:gd name="connsiteY68" fmla="*/ 135636 h 253898"/>
                  <a:gd name="connsiteX69" fmla="*/ 1105052 w 1275587"/>
                  <a:gd name="connsiteY69" fmla="*/ 113843 h 253898"/>
                  <a:gd name="connsiteX70" fmla="*/ 1092708 w 1275587"/>
                  <a:gd name="connsiteY70" fmla="*/ 74676 h 253898"/>
                  <a:gd name="connsiteX71" fmla="*/ 1104748 w 1275587"/>
                  <a:gd name="connsiteY71" fmla="*/ 36271 h 253898"/>
                  <a:gd name="connsiteX72" fmla="*/ 1137666 w 1275587"/>
                  <a:gd name="connsiteY72" fmla="*/ 9601 h 253898"/>
                  <a:gd name="connsiteX73" fmla="*/ 1183843 w 1275587"/>
                  <a:gd name="connsiteY73" fmla="*/ 0 h 253898"/>
                  <a:gd name="connsiteX74" fmla="*/ 1275588 w 1275587"/>
                  <a:gd name="connsiteY74" fmla="*/ 57912 h 253898"/>
                  <a:gd name="connsiteX75" fmla="*/ 1229868 w 1275587"/>
                  <a:gd name="connsiteY75" fmla="*/ 80162 h 253898"/>
                  <a:gd name="connsiteX76" fmla="*/ 1210513 w 1275587"/>
                  <a:gd name="connsiteY76" fmla="*/ 56236 h 253898"/>
                  <a:gd name="connsiteX77" fmla="*/ 1183234 w 1275587"/>
                  <a:gd name="connsiteY77" fmla="*/ 48768 h 253898"/>
                  <a:gd name="connsiteX78" fmla="*/ 1157630 w 1275587"/>
                  <a:gd name="connsiteY78" fmla="*/ 55474 h 253898"/>
                  <a:gd name="connsiteX79" fmla="*/ 1147267 w 1275587"/>
                  <a:gd name="connsiteY79" fmla="*/ 71933 h 253898"/>
                  <a:gd name="connsiteX80" fmla="*/ 1151534 w 1275587"/>
                  <a:gd name="connsiteY80" fmla="*/ 85192 h 253898"/>
                  <a:gd name="connsiteX81" fmla="*/ 1165403 w 1275587"/>
                  <a:gd name="connsiteY81" fmla="*/ 94336 h 253898"/>
                  <a:gd name="connsiteX82" fmla="*/ 1193902 w 1275587"/>
                  <a:gd name="connsiteY82" fmla="*/ 103632 h 253898"/>
                  <a:gd name="connsiteX83" fmla="*/ 1234135 w 1275587"/>
                  <a:gd name="connsiteY83" fmla="*/ 117196 h 253898"/>
                  <a:gd name="connsiteX84" fmla="*/ 1262482 w 1275587"/>
                  <a:gd name="connsiteY84" fmla="*/ 138836 h 253898"/>
                  <a:gd name="connsiteX85" fmla="*/ 1274674 w 1275587"/>
                  <a:gd name="connsiteY85" fmla="*/ 178003 h 253898"/>
                  <a:gd name="connsiteX86" fmla="*/ 1262634 w 1275587"/>
                  <a:gd name="connsiteY86" fmla="*/ 218084 h 253898"/>
                  <a:gd name="connsiteX87" fmla="*/ 1229258 w 1275587"/>
                  <a:gd name="connsiteY87" fmla="*/ 244602 h 253898"/>
                  <a:gd name="connsiteX88" fmla="*/ 1180490 w 1275587"/>
                  <a:gd name="connsiteY88" fmla="*/ 253898 h 253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275587" h="253898">
                    <a:moveTo>
                      <a:pt x="53340" y="249631"/>
                    </a:moveTo>
                    <a:lnTo>
                      <a:pt x="0" y="249631"/>
                    </a:lnTo>
                    <a:lnTo>
                      <a:pt x="0" y="4267"/>
                    </a:lnTo>
                    <a:lnTo>
                      <a:pt x="49073" y="4267"/>
                    </a:lnTo>
                    <a:lnTo>
                      <a:pt x="144475" y="149047"/>
                    </a:lnTo>
                    <a:lnTo>
                      <a:pt x="146304" y="149047"/>
                    </a:lnTo>
                    <a:lnTo>
                      <a:pt x="146304" y="4267"/>
                    </a:lnTo>
                    <a:lnTo>
                      <a:pt x="199644" y="4267"/>
                    </a:lnTo>
                    <a:lnTo>
                      <a:pt x="199644" y="249631"/>
                    </a:lnTo>
                    <a:lnTo>
                      <a:pt x="153314" y="249631"/>
                    </a:lnTo>
                    <a:lnTo>
                      <a:pt x="55169" y="104851"/>
                    </a:lnTo>
                    <a:lnTo>
                      <a:pt x="53340" y="104851"/>
                    </a:lnTo>
                    <a:lnTo>
                      <a:pt x="53340" y="249631"/>
                    </a:lnTo>
                    <a:close/>
                    <a:moveTo>
                      <a:pt x="397764" y="253898"/>
                    </a:moveTo>
                    <a:cubicBezTo>
                      <a:pt x="374802" y="253898"/>
                      <a:pt x="354838" y="248717"/>
                      <a:pt x="337871" y="238354"/>
                    </a:cubicBezTo>
                    <a:cubicBezTo>
                      <a:pt x="320904" y="227990"/>
                      <a:pt x="307848" y="213309"/>
                      <a:pt x="298704" y="194310"/>
                    </a:cubicBezTo>
                    <a:cubicBezTo>
                      <a:pt x="289560" y="175311"/>
                      <a:pt x="284988" y="152908"/>
                      <a:pt x="284988" y="127102"/>
                    </a:cubicBezTo>
                    <a:cubicBezTo>
                      <a:pt x="284988" y="101295"/>
                      <a:pt x="289560" y="78842"/>
                      <a:pt x="298704" y="59741"/>
                    </a:cubicBezTo>
                    <a:cubicBezTo>
                      <a:pt x="307848" y="40640"/>
                      <a:pt x="320904" y="25908"/>
                      <a:pt x="337871" y="15545"/>
                    </a:cubicBezTo>
                    <a:cubicBezTo>
                      <a:pt x="354838" y="5182"/>
                      <a:pt x="374802" y="0"/>
                      <a:pt x="397764" y="0"/>
                    </a:cubicBezTo>
                    <a:cubicBezTo>
                      <a:pt x="420726" y="0"/>
                      <a:pt x="440639" y="5182"/>
                      <a:pt x="457505" y="15545"/>
                    </a:cubicBezTo>
                    <a:cubicBezTo>
                      <a:pt x="474370" y="25908"/>
                      <a:pt x="487375" y="40640"/>
                      <a:pt x="496519" y="59741"/>
                    </a:cubicBezTo>
                    <a:cubicBezTo>
                      <a:pt x="505663" y="78842"/>
                      <a:pt x="510235" y="101295"/>
                      <a:pt x="510235" y="127102"/>
                    </a:cubicBezTo>
                    <a:cubicBezTo>
                      <a:pt x="510235" y="152908"/>
                      <a:pt x="505663" y="175311"/>
                      <a:pt x="496519" y="194310"/>
                    </a:cubicBezTo>
                    <a:cubicBezTo>
                      <a:pt x="487375" y="213309"/>
                      <a:pt x="474370" y="227990"/>
                      <a:pt x="457505" y="238354"/>
                    </a:cubicBezTo>
                    <a:cubicBezTo>
                      <a:pt x="440639" y="248717"/>
                      <a:pt x="420726" y="253898"/>
                      <a:pt x="397764" y="253898"/>
                    </a:cubicBezTo>
                    <a:close/>
                    <a:moveTo>
                      <a:pt x="397764" y="203911"/>
                    </a:moveTo>
                    <a:cubicBezTo>
                      <a:pt x="415646" y="203911"/>
                      <a:pt x="429768" y="197002"/>
                      <a:pt x="440131" y="183185"/>
                    </a:cubicBezTo>
                    <a:cubicBezTo>
                      <a:pt x="450494" y="169367"/>
                      <a:pt x="455676" y="150673"/>
                      <a:pt x="455676" y="127102"/>
                    </a:cubicBezTo>
                    <a:cubicBezTo>
                      <a:pt x="455676" y="103530"/>
                      <a:pt x="450494" y="84785"/>
                      <a:pt x="440131" y="70866"/>
                    </a:cubicBezTo>
                    <a:cubicBezTo>
                      <a:pt x="429768" y="56947"/>
                      <a:pt x="415646" y="49987"/>
                      <a:pt x="397764" y="49987"/>
                    </a:cubicBezTo>
                    <a:cubicBezTo>
                      <a:pt x="379882" y="49987"/>
                      <a:pt x="365709" y="56947"/>
                      <a:pt x="355244" y="70866"/>
                    </a:cubicBezTo>
                    <a:cubicBezTo>
                      <a:pt x="344780" y="84785"/>
                      <a:pt x="339547" y="103530"/>
                      <a:pt x="339547" y="127102"/>
                    </a:cubicBezTo>
                    <a:cubicBezTo>
                      <a:pt x="339547" y="150673"/>
                      <a:pt x="344780" y="169367"/>
                      <a:pt x="355244" y="183185"/>
                    </a:cubicBezTo>
                    <a:cubicBezTo>
                      <a:pt x="365709" y="197002"/>
                      <a:pt x="379882" y="203911"/>
                      <a:pt x="397764" y="203911"/>
                    </a:cubicBezTo>
                    <a:close/>
                    <a:moveTo>
                      <a:pt x="704088" y="249631"/>
                    </a:moveTo>
                    <a:lnTo>
                      <a:pt x="650748" y="249631"/>
                    </a:lnTo>
                    <a:lnTo>
                      <a:pt x="650748" y="54254"/>
                    </a:lnTo>
                    <a:lnTo>
                      <a:pt x="583692" y="54254"/>
                    </a:lnTo>
                    <a:lnTo>
                      <a:pt x="583692" y="4267"/>
                    </a:lnTo>
                    <a:lnTo>
                      <a:pt x="770839" y="4267"/>
                    </a:lnTo>
                    <a:lnTo>
                      <a:pt x="770839" y="54254"/>
                    </a:lnTo>
                    <a:lnTo>
                      <a:pt x="704088" y="54254"/>
                    </a:lnTo>
                    <a:lnTo>
                      <a:pt x="704088" y="249631"/>
                    </a:lnTo>
                    <a:close/>
                    <a:moveTo>
                      <a:pt x="904342" y="149352"/>
                    </a:moveTo>
                    <a:lnTo>
                      <a:pt x="904342" y="201168"/>
                    </a:lnTo>
                    <a:lnTo>
                      <a:pt x="1015594" y="201168"/>
                    </a:lnTo>
                    <a:lnTo>
                      <a:pt x="1015594" y="249631"/>
                    </a:lnTo>
                    <a:lnTo>
                      <a:pt x="851002" y="249631"/>
                    </a:lnTo>
                    <a:lnTo>
                      <a:pt x="851002" y="4267"/>
                    </a:lnTo>
                    <a:lnTo>
                      <a:pt x="1011936" y="4267"/>
                    </a:lnTo>
                    <a:lnTo>
                      <a:pt x="1011936" y="52730"/>
                    </a:lnTo>
                    <a:lnTo>
                      <a:pt x="904342" y="52730"/>
                    </a:lnTo>
                    <a:lnTo>
                      <a:pt x="904342" y="100889"/>
                    </a:lnTo>
                    <a:lnTo>
                      <a:pt x="1006145" y="100889"/>
                    </a:lnTo>
                    <a:lnTo>
                      <a:pt x="1006145" y="149352"/>
                    </a:lnTo>
                    <a:lnTo>
                      <a:pt x="904342" y="149352"/>
                    </a:lnTo>
                    <a:close/>
                    <a:moveTo>
                      <a:pt x="1180490" y="253898"/>
                    </a:moveTo>
                    <a:cubicBezTo>
                      <a:pt x="1158138" y="253898"/>
                      <a:pt x="1138631" y="248361"/>
                      <a:pt x="1121969" y="237287"/>
                    </a:cubicBezTo>
                    <a:cubicBezTo>
                      <a:pt x="1105306" y="226212"/>
                      <a:pt x="1092810" y="211531"/>
                      <a:pt x="1084478" y="193243"/>
                    </a:cubicBezTo>
                    <a:lnTo>
                      <a:pt x="1130808" y="171602"/>
                    </a:lnTo>
                    <a:cubicBezTo>
                      <a:pt x="1135075" y="182575"/>
                      <a:pt x="1141578" y="190906"/>
                      <a:pt x="1150315" y="196596"/>
                    </a:cubicBezTo>
                    <a:cubicBezTo>
                      <a:pt x="1159053" y="202286"/>
                      <a:pt x="1169213" y="205130"/>
                      <a:pt x="1180795" y="205130"/>
                    </a:cubicBezTo>
                    <a:cubicBezTo>
                      <a:pt x="1192784" y="205130"/>
                      <a:pt x="1202335" y="202895"/>
                      <a:pt x="1209446" y="198425"/>
                    </a:cubicBezTo>
                    <a:cubicBezTo>
                      <a:pt x="1216559" y="193954"/>
                      <a:pt x="1220114" y="188163"/>
                      <a:pt x="1220114" y="181051"/>
                    </a:cubicBezTo>
                    <a:cubicBezTo>
                      <a:pt x="1220114" y="175971"/>
                      <a:pt x="1218794" y="171755"/>
                      <a:pt x="1216152" y="168402"/>
                    </a:cubicBezTo>
                    <a:cubicBezTo>
                      <a:pt x="1213510" y="165049"/>
                      <a:pt x="1208938" y="161950"/>
                      <a:pt x="1202436" y="159106"/>
                    </a:cubicBezTo>
                    <a:cubicBezTo>
                      <a:pt x="1195934" y="156261"/>
                      <a:pt x="1186485" y="153111"/>
                      <a:pt x="1174090" y="149657"/>
                    </a:cubicBezTo>
                    <a:cubicBezTo>
                      <a:pt x="1157834" y="144983"/>
                      <a:pt x="1144321" y="140310"/>
                      <a:pt x="1133551" y="135636"/>
                    </a:cubicBezTo>
                    <a:cubicBezTo>
                      <a:pt x="1122782" y="130962"/>
                      <a:pt x="1113282" y="123698"/>
                      <a:pt x="1105052" y="113843"/>
                    </a:cubicBezTo>
                    <a:cubicBezTo>
                      <a:pt x="1096823" y="103988"/>
                      <a:pt x="1092708" y="90932"/>
                      <a:pt x="1092708" y="74676"/>
                    </a:cubicBezTo>
                    <a:cubicBezTo>
                      <a:pt x="1092708" y="60452"/>
                      <a:pt x="1096721" y="47650"/>
                      <a:pt x="1104748" y="36271"/>
                    </a:cubicBezTo>
                    <a:cubicBezTo>
                      <a:pt x="1112774" y="24892"/>
                      <a:pt x="1123747" y="16002"/>
                      <a:pt x="1137666" y="9601"/>
                    </a:cubicBezTo>
                    <a:cubicBezTo>
                      <a:pt x="1151585" y="3200"/>
                      <a:pt x="1166978" y="0"/>
                      <a:pt x="1183843" y="0"/>
                    </a:cubicBezTo>
                    <a:cubicBezTo>
                      <a:pt x="1226312" y="0"/>
                      <a:pt x="1256894" y="19304"/>
                      <a:pt x="1275588" y="57912"/>
                    </a:cubicBezTo>
                    <a:lnTo>
                      <a:pt x="1229868" y="80162"/>
                    </a:lnTo>
                    <a:cubicBezTo>
                      <a:pt x="1224585" y="69190"/>
                      <a:pt x="1218133" y="61214"/>
                      <a:pt x="1210513" y="56236"/>
                    </a:cubicBezTo>
                    <a:cubicBezTo>
                      <a:pt x="1202893" y="51257"/>
                      <a:pt x="1193800" y="48768"/>
                      <a:pt x="1183234" y="48768"/>
                    </a:cubicBezTo>
                    <a:cubicBezTo>
                      <a:pt x="1173074" y="48768"/>
                      <a:pt x="1164539" y="51003"/>
                      <a:pt x="1157630" y="55474"/>
                    </a:cubicBezTo>
                    <a:cubicBezTo>
                      <a:pt x="1150722" y="59944"/>
                      <a:pt x="1147267" y="65430"/>
                      <a:pt x="1147267" y="71933"/>
                    </a:cubicBezTo>
                    <a:cubicBezTo>
                      <a:pt x="1147267" y="77419"/>
                      <a:pt x="1148690" y="81839"/>
                      <a:pt x="1151534" y="85192"/>
                    </a:cubicBezTo>
                    <a:cubicBezTo>
                      <a:pt x="1154379" y="88544"/>
                      <a:pt x="1159002" y="91592"/>
                      <a:pt x="1165403" y="94336"/>
                    </a:cubicBezTo>
                    <a:cubicBezTo>
                      <a:pt x="1171804" y="97079"/>
                      <a:pt x="1181303" y="100178"/>
                      <a:pt x="1193902" y="103632"/>
                    </a:cubicBezTo>
                    <a:cubicBezTo>
                      <a:pt x="1209954" y="108102"/>
                      <a:pt x="1223366" y="112624"/>
                      <a:pt x="1234135" y="117196"/>
                    </a:cubicBezTo>
                    <a:cubicBezTo>
                      <a:pt x="1244905" y="121768"/>
                      <a:pt x="1254354" y="128981"/>
                      <a:pt x="1262482" y="138836"/>
                    </a:cubicBezTo>
                    <a:cubicBezTo>
                      <a:pt x="1270610" y="148692"/>
                      <a:pt x="1274674" y="161747"/>
                      <a:pt x="1274674" y="178003"/>
                    </a:cubicBezTo>
                    <a:cubicBezTo>
                      <a:pt x="1274674" y="193243"/>
                      <a:pt x="1270660" y="206604"/>
                      <a:pt x="1262634" y="218084"/>
                    </a:cubicBezTo>
                    <a:cubicBezTo>
                      <a:pt x="1254608" y="229565"/>
                      <a:pt x="1243482" y="238404"/>
                      <a:pt x="1229258" y="244602"/>
                    </a:cubicBezTo>
                    <a:cubicBezTo>
                      <a:pt x="1215034" y="250800"/>
                      <a:pt x="1198778" y="253898"/>
                      <a:pt x="1180490" y="253898"/>
                    </a:cubicBezTo>
                    <a:close/>
                  </a:path>
                </a:pathLst>
              </a:custGeom>
              <a:solidFill>
                <a:srgbClr val="3F8BE8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3485999" y="2649214"/>
              <a:ext cx="5220000" cy="200694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/>
            <a:lstStyle/>
            <a:p>
              <a:pPr algn="just">
                <a:lnSpc>
                  <a:spcPct val="170000"/>
                </a:lnSpc>
              </a:pP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产品解决方案概述</a:t>
              </a:r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Bluelm-</a:t>
              </a:r>
              <a:r>
                <a:rPr lang="zh-CN" sz="20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ShopGuard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 </a:t>
              </a:r>
              <a:r>
                <a:rPr lang="zh-CN" altLang="en-US" sz="20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是一款基于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vivo蓝心大模型以及其矩阵api</a:t>
              </a:r>
              <a:r>
                <a:rPr lang="zh-CN" altLang="en-US" sz="20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的智能购物防诈骗助手，专注于通过分析商品信息、聊天记录等内容，识别购物场景中的诈骗风险，提供风险评估与专业建议，覆盖电商平台、社交购物、二手交易等场景，保护用户财产安全。</a:t>
              </a:r>
              <a:endParaRPr lang="zh-CN" altLang="en-US" sz="2000">
                <a:effectLst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本助手可在</a:t>
              </a:r>
              <a:r>
                <a:rPr lang="zh-CN" altLang="en-US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多端使用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，包括快应用、Webapp、本地部署，通过后端反诈智能体和优美的前端展示，给您最便捷的购物反诈体验</a:t>
              </a:r>
              <a:r>
                <a:rPr 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70000"/>
                </a:lnSpc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产品设计思路</a:t>
            </a:r>
            <a:endParaRPr lang="zh-CN" altLang="en-US"/>
          </a:p>
        </p:txBody>
      </p:sp>
      <p:sp>
        <p:nvSpPr>
          <p:cNvPr id="3" name="椭圆 1"/>
          <p:cNvSpPr/>
          <p:nvPr>
            <p:custDataLst>
              <p:tags r:id="rId2"/>
            </p:custDataLst>
          </p:nvPr>
        </p:nvSpPr>
        <p:spPr>
          <a:xfrm>
            <a:off x="602615" y="2256790"/>
            <a:ext cx="10980420" cy="540385"/>
          </a:xfrm>
          <a:prstGeom prst="ellipse">
            <a:avLst/>
          </a:prstGeom>
          <a:noFill/>
          <a:ln>
            <a:gradFill>
              <a:gsLst>
                <a:gs pos="33000">
                  <a:schemeClr val="accent2">
                    <a:lumMod val="20000"/>
                    <a:lumOff val="80000"/>
                    <a:alpha val="0"/>
                  </a:schemeClr>
                </a:gs>
                <a:gs pos="100000">
                  <a:schemeClr val="accent2">
                    <a:alpha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4" name="椭圆 6"/>
          <p:cNvSpPr/>
          <p:nvPr>
            <p:custDataLst>
              <p:tags r:id="rId3"/>
            </p:custDataLst>
          </p:nvPr>
        </p:nvSpPr>
        <p:spPr>
          <a:xfrm>
            <a:off x="890270" y="2124710"/>
            <a:ext cx="10406380" cy="540385"/>
          </a:xfrm>
          <a:prstGeom prst="ellipse">
            <a:avLst/>
          </a:prstGeom>
          <a:gradFill flip="none" rotWithShape="1">
            <a:gsLst>
              <a:gs pos="18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80000"/>
                  <a:lumOff val="20000"/>
                  <a:alpha val="3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sp>
        <p:nvSpPr>
          <p:cNvPr id="5" name="矩形: 圆角 1"/>
          <p:cNvSpPr/>
          <p:nvPr>
            <p:custDataLst>
              <p:tags r:id="rId4"/>
            </p:custDataLst>
          </p:nvPr>
        </p:nvSpPr>
        <p:spPr>
          <a:xfrm>
            <a:off x="3040380" y="1680210"/>
            <a:ext cx="6111240" cy="62674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5000"/>
                  <a:lumOff val="15000"/>
                  <a:alpha val="100000"/>
                </a:schemeClr>
              </a:gs>
              <a:gs pos="100000">
                <a:schemeClr val="accent1">
                  <a:lumMod val="85000"/>
                  <a:alpha val="100000"/>
                </a:schemeClr>
              </a:gs>
            </a:gsLst>
            <a:lin ang="10800000" scaled="1"/>
          </a:gradFill>
        </p:spPr>
        <p:txBody>
          <a:bodyPr wrap="square" lIns="0" tIns="0" rIns="0" bIns="0" rtlCol="0" anchor="ctr" anchorCtr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50" b="1">
                <a:solidFill>
                  <a:srgbClr val="FFFFFF"/>
                </a:solidFill>
                <a:latin typeface="+mn-ea"/>
                <a:cs typeface="+mn-ea"/>
              </a:rPr>
              <a:t>产品设计过程</a:t>
            </a:r>
            <a:endParaRPr lang="zh-CN" altLang="en-US" sz="2050" b="1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8" name="椭圆 30"/>
          <p:cNvSpPr/>
          <p:nvPr>
            <p:custDataLst>
              <p:tags r:id="rId5"/>
            </p:custDataLst>
          </p:nvPr>
        </p:nvSpPr>
        <p:spPr>
          <a:xfrm>
            <a:off x="3144520" y="2699385"/>
            <a:ext cx="92710" cy="9271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75000"/>
                  <a:alpha val="100000"/>
                </a:schemeClr>
              </a:gs>
            </a:gsLst>
            <a:lin ang="5400000" scaled="1"/>
          </a:gradFill>
          <a:ln>
            <a:noFill/>
          </a:ln>
          <a:effectLst>
            <a:outerShdw blurRad="152400" sx="102000" sy="102000" algn="ctr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cxnSp>
        <p:nvCxnSpPr>
          <p:cNvPr id="9" name="直接连接符 32"/>
          <p:cNvCxnSpPr/>
          <p:nvPr>
            <p:custDataLst>
              <p:tags r:id="rId6"/>
            </p:custDataLst>
          </p:nvPr>
        </p:nvCxnSpPr>
        <p:spPr>
          <a:xfrm>
            <a:off x="3190875" y="2792095"/>
            <a:ext cx="0" cy="309296"/>
          </a:xfrm>
          <a:prstGeom prst="line">
            <a:avLst/>
          </a:prstGeom>
          <a:ln w="19050">
            <a:gradFill>
              <a:gsLst>
                <a:gs pos="96000">
                  <a:srgbClr val="FFFFFF">
                    <a:alpha val="0"/>
                  </a:srgbClr>
                </a:gs>
                <a:gs pos="0">
                  <a:schemeClr val="accent1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33"/>
          <p:cNvSpPr/>
          <p:nvPr>
            <p:custDataLst>
              <p:tags r:id="rId7"/>
            </p:custDataLst>
          </p:nvPr>
        </p:nvSpPr>
        <p:spPr>
          <a:xfrm>
            <a:off x="2099945" y="3026410"/>
            <a:ext cx="2181860" cy="3397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050" b="1" i="0">
                <a:solidFill>
                  <a:schemeClr val="tx1"/>
                </a:solidFill>
                <a:effectLst/>
                <a:latin typeface="+mn-ea"/>
              </a:rPr>
              <a:t>1. </a:t>
            </a:r>
            <a:r>
              <a:rPr lang="zh-CN" altLang="en-US" sz="2050" b="1" i="0">
                <a:solidFill>
                  <a:schemeClr val="tx1"/>
                </a:solidFill>
                <a:effectLst/>
                <a:latin typeface="+mn-ea"/>
              </a:rPr>
              <a:t>需求分析阶段</a:t>
            </a:r>
            <a:endParaRPr lang="zh-CN" altLang="en-US" sz="2050" b="1" i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1" name="矩形: 圆角 34"/>
          <p:cNvSpPr/>
          <p:nvPr>
            <p:custDataLst>
              <p:tags r:id="rId8"/>
            </p:custDataLst>
          </p:nvPr>
        </p:nvSpPr>
        <p:spPr>
          <a:xfrm>
            <a:off x="606425" y="3496310"/>
            <a:ext cx="5168900" cy="2764790"/>
          </a:xfrm>
          <a:prstGeom prst="roundRect">
            <a:avLst>
              <a:gd name="adj" fmla="val 8537"/>
            </a:avLst>
          </a:prstGeom>
          <a:noFill/>
          <a:ln w="15875">
            <a:gradFill flip="none" rotWithShape="1">
              <a:gsLst>
                <a:gs pos="0">
                  <a:schemeClr val="accent1">
                    <a:alpha val="75000"/>
                  </a:schemeClr>
                </a:gs>
                <a:gs pos="100000">
                  <a:schemeClr val="accent1">
                    <a:alpha val="16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290" tIns="179705" rIns="288290" bIns="71755" rtlCol="0" anchor="t">
            <a:noAutofit/>
          </a:bodyPr>
          <a:lstStyle/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50" b="1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核心痛点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用户在网购中常因信息不对称遭遇低价诱骗、虚假宣传、钓鱼链接等诈骗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,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缺乏快速识别风险的专业工具。</a:t>
            </a:r>
            <a:endParaRPr lang="en-US" altLang="zh-CN" sz="1550" spc="2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550" b="1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目标用户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普通消费者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(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尤其是学生、中老年群体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)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、电商平台用户、二手交易参与者。</a:t>
            </a:r>
            <a:endParaRPr lang="en-US" altLang="zh-CN" sz="1550" spc="2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 indent="0"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550" b="1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竞品差距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现有工具依赖固定规则库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,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灵活性不足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;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缺乏多模态分析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(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如图片识别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)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和动态风险评估能力。</a:t>
            </a:r>
            <a:endParaRPr lang="zh-CN" altLang="en-US" sz="1550" spc="2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12" name="椭圆 36"/>
          <p:cNvSpPr/>
          <p:nvPr>
            <p:custDataLst>
              <p:tags r:id="rId9"/>
            </p:custDataLst>
          </p:nvPr>
        </p:nvSpPr>
        <p:spPr>
          <a:xfrm>
            <a:off x="8940165" y="2687955"/>
            <a:ext cx="92710" cy="92710"/>
          </a:xfrm>
          <a:prstGeom prst="ellipse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75000"/>
                  <a:alpha val="100000"/>
                </a:schemeClr>
              </a:gs>
            </a:gsLst>
            <a:lin ang="5400000" scaled="1"/>
          </a:gradFill>
          <a:ln>
            <a:noFill/>
          </a:ln>
          <a:effectLst>
            <a:outerShdw blurRad="152400" sx="102000" sy="102000" algn="ctr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+mn-ea"/>
            </a:endParaRPr>
          </a:p>
        </p:txBody>
      </p:sp>
      <p:cxnSp>
        <p:nvCxnSpPr>
          <p:cNvPr id="13" name="直接连接符 37"/>
          <p:cNvCxnSpPr/>
          <p:nvPr>
            <p:custDataLst>
              <p:tags r:id="rId10"/>
            </p:custDataLst>
          </p:nvPr>
        </p:nvCxnSpPr>
        <p:spPr>
          <a:xfrm>
            <a:off x="8986520" y="2780665"/>
            <a:ext cx="0" cy="309296"/>
          </a:xfrm>
          <a:prstGeom prst="line">
            <a:avLst/>
          </a:prstGeom>
          <a:ln w="19050">
            <a:gradFill>
              <a:gsLst>
                <a:gs pos="96000">
                  <a:srgbClr val="FFFFFF">
                    <a:alpha val="0"/>
                  </a:srgbClr>
                </a:gs>
                <a:gs pos="0">
                  <a:schemeClr val="accent2">
                    <a:alpha val="5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38"/>
          <p:cNvSpPr/>
          <p:nvPr>
            <p:custDataLst>
              <p:tags r:id="rId11"/>
            </p:custDataLst>
          </p:nvPr>
        </p:nvSpPr>
        <p:spPr>
          <a:xfrm>
            <a:off x="7895590" y="3014980"/>
            <a:ext cx="2181860" cy="3397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2050" b="1" i="0">
                <a:solidFill>
                  <a:schemeClr val="tx1"/>
                </a:solidFill>
                <a:effectLst/>
                <a:latin typeface="+mn-ea"/>
              </a:rPr>
              <a:t>2. </a:t>
            </a:r>
            <a:r>
              <a:rPr lang="zh-CN" altLang="en-US" sz="2050" b="1" i="0">
                <a:solidFill>
                  <a:schemeClr val="tx1"/>
                </a:solidFill>
                <a:effectLst/>
                <a:latin typeface="+mn-ea"/>
              </a:rPr>
              <a:t>产品定位</a:t>
            </a:r>
            <a:endParaRPr lang="zh-CN" altLang="en-US" sz="2050" b="1" i="0"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5" name="矩形: 圆角 39"/>
          <p:cNvSpPr/>
          <p:nvPr>
            <p:custDataLst>
              <p:tags r:id="rId12"/>
            </p:custDataLst>
          </p:nvPr>
        </p:nvSpPr>
        <p:spPr>
          <a:xfrm>
            <a:off x="6402070" y="3496310"/>
            <a:ext cx="5168900" cy="2764790"/>
          </a:xfrm>
          <a:prstGeom prst="roundRect">
            <a:avLst>
              <a:gd name="adj" fmla="val 8537"/>
            </a:avLst>
          </a:prstGeom>
          <a:noFill/>
          <a:ln w="15875">
            <a:gradFill flip="none" rotWithShape="1">
              <a:gsLst>
                <a:gs pos="0">
                  <a:schemeClr val="accent2">
                    <a:alpha val="75000"/>
                  </a:schemeClr>
                </a:gs>
                <a:gs pos="100000">
                  <a:schemeClr val="accent2">
                    <a:alpha val="16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290" tIns="179705" rIns="288290" bIns="71755" rtlCol="0" anchor="t">
            <a:noAutofit/>
          </a:bodyPr>
          <a:lstStyle/>
          <a:p>
            <a:pPr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50" b="1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核心价值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:以 vivo </a:t>
            </a:r>
            <a:r>
              <a:rPr lang="en-US" altLang="zh-CN" sz="1550" spc="20" err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BlueLM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 </a:t>
            </a:r>
            <a:r>
              <a:rPr lang="en-US" altLang="zh-CN" sz="1550" spc="20" err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多模态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 AI 引擎为技术底座，构建零门槛的购物反诈智能服务。用户只需"一键上传"商品信息或图片，即可获得"智能分析→直观评分→专业建议"的完整闭环体验。</a:t>
            </a:r>
            <a:endParaRPr lang="zh-CN" altLang="en-US" sz="1550" spc="2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 algn="just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550" b="1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差异化优势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支持多模态输入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(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文本、图片</a:t>
            </a:r>
            <a:r>
              <a:rPr lang="en-US" altLang="zh-CN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)</a:t>
            </a:r>
            <a:r>
              <a:rPr lang="zh-CN" altLang="en-US" sz="1550" spc="2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、实时风险评估、个性化防骗指引，支持功能强大的快应用和网页平台，同时兼顾本地部署。</a:t>
            </a:r>
            <a:endParaRPr lang="zh-CN" altLang="en-US" sz="1550" spc="2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矩形: 圆角 3"/>
          <p:cNvSpPr/>
          <p:nvPr>
            <p:custDataLst>
              <p:tags r:id="rId1"/>
            </p:custDataLst>
          </p:nvPr>
        </p:nvSpPr>
        <p:spPr>
          <a:xfrm>
            <a:off x="609600" y="1526540"/>
            <a:ext cx="11207115" cy="4721860"/>
          </a:xfrm>
          <a:prstGeom prst="roundRect">
            <a:avLst>
              <a:gd name="adj" fmla="val 4859"/>
            </a:avLst>
          </a:prstGeom>
          <a:ln w="952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prstDash val="solid"/>
          </a:ln>
          <a:effectLst>
            <a:outerShdw blurRad="127000" dist="76200" dir="3600000" algn="ctr" rotWithShape="0">
              <a:schemeClr val="accent1">
                <a:alpha val="23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7" name="矩形: 圆角 3"/>
          <p:cNvSpPr/>
          <p:nvPr>
            <p:custDataLst>
              <p:tags r:id="rId2"/>
            </p:custDataLst>
          </p:nvPr>
        </p:nvSpPr>
        <p:spPr>
          <a:xfrm>
            <a:off x="609600" y="1526540"/>
            <a:ext cx="11207115" cy="4721860"/>
          </a:xfrm>
          <a:prstGeom prst="roundRect">
            <a:avLst>
              <a:gd name="adj" fmla="val 4859"/>
            </a:avLst>
          </a:prstGeom>
          <a:solidFill>
            <a:srgbClr val="FFFFFF">
              <a:alpha val="20000"/>
            </a:srgbClr>
          </a:solidFill>
          <a:ln w="9525">
            <a:noFill/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产品设计思路</a:t>
            </a:r>
            <a:endParaRPr lang="zh-CN" altLang="en-US"/>
          </a:p>
        </p:txBody>
      </p:sp>
      <p:sp>
        <p:nvSpPr>
          <p:cNvPr id="4" name="矩形: 圆角 3"/>
          <p:cNvSpPr/>
          <p:nvPr>
            <p:custDataLst>
              <p:tags r:id="rId4"/>
            </p:custDataLst>
          </p:nvPr>
        </p:nvSpPr>
        <p:spPr>
          <a:xfrm>
            <a:off x="9398000" y="1526540"/>
            <a:ext cx="2418715" cy="4721860"/>
          </a:xfrm>
          <a:custGeom>
            <a:avLst/>
            <a:gdLst>
              <a:gd name="adj" fmla="val 4859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809" h="7436">
                <a:moveTo>
                  <a:pt x="0" y="0"/>
                </a:moveTo>
                <a:lnTo>
                  <a:pt x="3448" y="0"/>
                </a:lnTo>
                <a:cubicBezTo>
                  <a:pt x="3647" y="0"/>
                  <a:pt x="3809" y="162"/>
                  <a:pt x="3809" y="361"/>
                </a:cubicBezTo>
                <a:lnTo>
                  <a:pt x="3809" y="7075"/>
                </a:lnTo>
                <a:cubicBezTo>
                  <a:pt x="3809" y="7274"/>
                  <a:pt x="3647" y="7436"/>
                  <a:pt x="3448" y="7436"/>
                </a:cubicBezTo>
                <a:lnTo>
                  <a:pt x="0" y="74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61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90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049020" y="2804255"/>
            <a:ext cx="10328400" cy="299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 flipH="1" flipV="1">
            <a:off x="10247333" y="1893315"/>
            <a:ext cx="720000" cy="536902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28" h="1413">
                <a:moveTo>
                  <a:pt x="485" y="0"/>
                </a:moveTo>
                <a:lnTo>
                  <a:pt x="615" y="206"/>
                </a:lnTo>
                <a:cubicBezTo>
                  <a:pt x="507" y="251"/>
                  <a:pt x="428" y="318"/>
                  <a:pt x="377" y="408"/>
                </a:cubicBezTo>
                <a:cubicBezTo>
                  <a:pt x="326" y="497"/>
                  <a:pt x="297" y="627"/>
                  <a:pt x="291" y="798"/>
                </a:cubicBezTo>
                <a:lnTo>
                  <a:pt x="568" y="798"/>
                </a:lnTo>
                <a:lnTo>
                  <a:pt x="568" y="1413"/>
                </a:lnTo>
                <a:lnTo>
                  <a:pt x="0" y="1413"/>
                </a:lnTo>
                <a:lnTo>
                  <a:pt x="0" y="927"/>
                </a:lnTo>
                <a:cubicBezTo>
                  <a:pt x="0" y="664"/>
                  <a:pt x="31" y="474"/>
                  <a:pt x="94" y="356"/>
                </a:cubicBezTo>
                <a:cubicBezTo>
                  <a:pt x="177" y="199"/>
                  <a:pt x="307" y="80"/>
                  <a:pt x="485" y="0"/>
                </a:cubicBezTo>
                <a:close/>
                <a:moveTo>
                  <a:pt x="1398" y="0"/>
                </a:moveTo>
                <a:lnTo>
                  <a:pt x="1528" y="206"/>
                </a:lnTo>
                <a:cubicBezTo>
                  <a:pt x="1420" y="251"/>
                  <a:pt x="1340" y="318"/>
                  <a:pt x="1290" y="408"/>
                </a:cubicBezTo>
                <a:cubicBezTo>
                  <a:pt x="1239" y="497"/>
                  <a:pt x="1210" y="627"/>
                  <a:pt x="1204" y="798"/>
                </a:cubicBezTo>
                <a:lnTo>
                  <a:pt x="1481" y="798"/>
                </a:lnTo>
                <a:lnTo>
                  <a:pt x="1481" y="1413"/>
                </a:lnTo>
                <a:lnTo>
                  <a:pt x="912" y="1413"/>
                </a:lnTo>
                <a:lnTo>
                  <a:pt x="912" y="927"/>
                </a:lnTo>
                <a:cubicBezTo>
                  <a:pt x="912" y="664"/>
                  <a:pt x="944" y="474"/>
                  <a:pt x="1006" y="356"/>
                </a:cubicBezTo>
                <a:cubicBezTo>
                  <a:pt x="1089" y="199"/>
                  <a:pt x="1220" y="80"/>
                  <a:pt x="139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noFill/>
            </a:endParaRPr>
          </a:p>
        </p:txBody>
      </p: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>
            <a:off x="1049020" y="1788795"/>
            <a:ext cx="8091805" cy="746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zh-CN" altLang="en-US" sz="1600" kern="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产品功能设计</a:t>
            </a:r>
            <a:endParaRPr lang="zh-CN" altLang="en-US" sz="1600" kern="0" spc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600" kern="0" spc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sym typeface="+mn-ea"/>
              </a:rPr>
              <a:t>1. 核心功能模块</a:t>
            </a:r>
            <a:endParaRPr lang="zh-CN" altLang="en-US" sz="1600" kern="0" spc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graphicFrame>
        <p:nvGraphicFramePr>
          <p:cNvPr id="3" name="表格 6"/>
          <p:cNvGraphicFramePr/>
          <p:nvPr/>
        </p:nvGraphicFramePr>
        <p:xfrm>
          <a:off x="781878" y="2630556"/>
          <a:ext cx="10792100" cy="3791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504"/>
                <a:gridCol w="9241596"/>
              </a:tblGrid>
              <a:tr h="515716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功能模块</a:t>
                      </a:r>
                      <a:endParaRPr lang="zh-CN" alt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b="1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具体描述</a:t>
                      </a:r>
                      <a:endParaRPr lang="zh-CN" altLang="en-US" sz="1400" b="1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</a:tr>
              <a:tr h="78874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多模态输入</a:t>
                      </a:r>
                      <a:endParaRPr lang="zh-CN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400" b="0" spc="12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图片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识别：上传商品截图、聊天记录截图，提取文字并分析风险等</a:t>
                      </a:r>
                      <a:b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文本分析：输入商品描述、聊天记录，识别诈骗话术等</a:t>
                      </a:r>
                      <a:endParaRPr lang="zh-CN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</a:tr>
              <a:tr h="7280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风险评估</a:t>
                      </a:r>
                      <a:endParaRPr lang="zh-CN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智能化反诈工作流</a:t>
                      </a:r>
                      <a:r>
                        <a:rPr lang="zh-CN" altLang="en-US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：RAG-10000+诈骗知识库，特质化查询改写，智能判断工作流走向与工具调用</a:t>
                      </a:r>
                      <a:endParaRPr lang="zh-CN" altLang="en-US" sz="1400" b="0" i="0" u="none" strike="noStrike" spc="120" noProof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lv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星级评分：</a:t>
                      </a: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0-10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星直观展示诈骗风险（</a:t>
                      </a: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星可信，</a:t>
                      </a: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星高危）</a:t>
                      </a:r>
                      <a:b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风险标签：自动标注 “低价诱骗”“虚假宣传”“私下交易” 等具体风险类型</a:t>
                      </a:r>
                      <a:endParaRPr lang="zh-CN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</a:tr>
              <a:tr h="7280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智能建议</a:t>
                      </a:r>
                      <a:endParaRPr lang="zh-CN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防骗指南：针对风险类型提供操作建议（如 “拒绝私下转账”“验证平台资质”）等</a:t>
                      </a:r>
                      <a:b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行动指引：推荐 “查询平台备案”“举报诈骗” 等下一步操作</a:t>
                      </a:r>
                      <a:endParaRPr lang="zh-CN" altLang="en-US" sz="14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</a:tr>
              <a:tr h="72807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多端部署</a:t>
                      </a:r>
                      <a:endParaRPr lang="zh-CN" altLang="en-US" sz="1600" b="0" spc="12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400" b="0" spc="12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快应用平台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：内容精美，支持多模态输入、风格切换、历史对话查询与切换、多轮对话等</a:t>
                      </a:r>
                      <a:b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spc="12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Webapp: </a:t>
                      </a:r>
                      <a:r>
                        <a:rPr lang="zh-CN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内容精美，支持多模态输入、语言风格切换、历史对话查询与切换、多轮对话等</a:t>
                      </a:r>
                      <a:br>
                        <a:rPr lang="zh-CN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</a:br>
                      <a:r>
                        <a:rPr lang="zh-CN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400" b="0" i="0" u="none" strike="noStrike" spc="120" noProof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本地部署: 详细文档教程指引，简单易上手，自定义调试范围广，延迟较低</a:t>
                      </a:r>
                      <a:endParaRPr lang="zh-CN" altLang="en-US" sz="1400" b="0" i="0" u="none" strike="noStrike" spc="120" noProof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77800" marR="177800" marT="66675" marB="66675" anchor="ctr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5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产品设计思路</a:t>
            </a:r>
            <a:endParaRPr lang="zh-CN" altLang="en-US"/>
          </a:p>
        </p:txBody>
      </p:sp>
      <p:sp>
        <p:nvSpPr>
          <p:cNvPr id="401" name="任意多边形: 形状 400"/>
          <p:cNvSpPr/>
          <p:nvPr>
            <p:custDataLst>
              <p:tags r:id="rId2"/>
            </p:custDataLst>
          </p:nvPr>
        </p:nvSpPr>
        <p:spPr>
          <a:xfrm>
            <a:off x="695960" y="1941830"/>
            <a:ext cx="10764520" cy="4304030"/>
          </a:xfrm>
          <a:custGeom>
            <a:avLst/>
            <a:gdLst>
              <a:gd name="connsiteX0" fmla="*/ 10659237 w 10659236"/>
              <a:gd name="connsiteY0" fmla="*/ 0 h 4304309"/>
              <a:gd name="connsiteX1" fmla="*/ 10659237 w 10659236"/>
              <a:gd name="connsiteY1" fmla="*/ 4115257 h 4304309"/>
              <a:gd name="connsiteX2" fmla="*/ 10470185 w 10659236"/>
              <a:gd name="connsiteY2" fmla="*/ 4304310 h 4304309"/>
              <a:gd name="connsiteX3" fmla="*/ 188976 w 10659236"/>
              <a:gd name="connsiteY3" fmla="*/ 4304310 h 4304309"/>
              <a:gd name="connsiteX4" fmla="*/ 0 w 10659236"/>
              <a:gd name="connsiteY4" fmla="*/ 4115257 h 4304309"/>
              <a:gd name="connsiteX5" fmla="*/ 0 w 10659236"/>
              <a:gd name="connsiteY5" fmla="*/ 0 h 4304309"/>
              <a:gd name="connsiteX6" fmla="*/ 10659237 w 10659236"/>
              <a:gd name="connsiteY6" fmla="*/ 0 h 4304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9236" h="4304309">
                <a:moveTo>
                  <a:pt x="10659237" y="0"/>
                </a:moveTo>
                <a:lnTo>
                  <a:pt x="10659237" y="4115257"/>
                </a:lnTo>
                <a:cubicBezTo>
                  <a:pt x="10659237" y="4219651"/>
                  <a:pt x="10574579" y="4304310"/>
                  <a:pt x="10470185" y="4304310"/>
                </a:cubicBezTo>
                <a:lnTo>
                  <a:pt x="188976" y="4304310"/>
                </a:lnTo>
                <a:cubicBezTo>
                  <a:pt x="84582" y="4304310"/>
                  <a:pt x="0" y="4219651"/>
                  <a:pt x="0" y="4115257"/>
                </a:cubicBezTo>
                <a:lnTo>
                  <a:pt x="0" y="0"/>
                </a:lnTo>
                <a:lnTo>
                  <a:pt x="10659237" y="0"/>
                </a:lnTo>
                <a:close/>
              </a:path>
            </a:pathLst>
          </a:custGeom>
          <a:noFill/>
          <a:ln w="6350" cap="flat">
            <a:gradFill>
              <a:gsLst>
                <a:gs pos="88000">
                  <a:schemeClr val="accent1">
                    <a:alpha val="63000"/>
                  </a:schemeClr>
                </a:gs>
                <a:gs pos="0">
                  <a:schemeClr val="accent1">
                    <a:alpha val="32000"/>
                  </a:schemeClr>
                </a:gs>
              </a:gsLst>
              <a:lin ang="768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02" name="任意多边形: 形状 401"/>
          <p:cNvSpPr/>
          <p:nvPr>
            <p:custDataLst>
              <p:tags r:id="rId3"/>
            </p:custDataLst>
          </p:nvPr>
        </p:nvSpPr>
        <p:spPr>
          <a:xfrm>
            <a:off x="942975" y="6024245"/>
            <a:ext cx="10553700" cy="220980"/>
          </a:xfrm>
          <a:custGeom>
            <a:avLst/>
            <a:gdLst>
              <a:gd name="connsiteX0" fmla="*/ 10450297 w 10450296"/>
              <a:gd name="connsiteY0" fmla="*/ 0 h 221284"/>
              <a:gd name="connsiteX1" fmla="*/ 134493 w 10450296"/>
              <a:gd name="connsiteY1" fmla="*/ 0 h 221284"/>
              <a:gd name="connsiteX2" fmla="*/ 134493 w 10450296"/>
              <a:gd name="connsiteY2" fmla="*/ 86791 h 221284"/>
              <a:gd name="connsiteX3" fmla="*/ 0 w 10450296"/>
              <a:gd name="connsiteY3" fmla="*/ 221285 h 221284"/>
              <a:gd name="connsiteX4" fmla="*/ 10304831 w 10450296"/>
              <a:gd name="connsiteY4" fmla="*/ 221285 h 221284"/>
              <a:gd name="connsiteX5" fmla="*/ 10450297 w 10450296"/>
              <a:gd name="connsiteY5" fmla="*/ 75819 h 221284"/>
              <a:gd name="connsiteX6" fmla="*/ 10450297 w 10450296"/>
              <a:gd name="connsiteY6" fmla="*/ 0 h 221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50296" h="221284">
                <a:moveTo>
                  <a:pt x="10450297" y="0"/>
                </a:moveTo>
                <a:lnTo>
                  <a:pt x="134493" y="0"/>
                </a:lnTo>
                <a:lnTo>
                  <a:pt x="134493" y="86791"/>
                </a:lnTo>
                <a:cubicBezTo>
                  <a:pt x="134493" y="161086"/>
                  <a:pt x="74295" y="221285"/>
                  <a:pt x="0" y="221285"/>
                </a:cubicBezTo>
                <a:lnTo>
                  <a:pt x="10304831" y="221285"/>
                </a:lnTo>
                <a:cubicBezTo>
                  <a:pt x="10385145" y="221285"/>
                  <a:pt x="10450297" y="156134"/>
                  <a:pt x="10450297" y="75819"/>
                </a:cubicBezTo>
                <a:lnTo>
                  <a:pt x="10450297" y="0"/>
                </a:lnTo>
                <a:close/>
              </a:path>
            </a:pathLst>
          </a:custGeom>
          <a:gradFill>
            <a:gsLst>
              <a:gs pos="15000">
                <a:schemeClr val="accent1"/>
              </a:gs>
              <a:gs pos="94000">
                <a:schemeClr val="accent1">
                  <a:lumMod val="63000"/>
                  <a:lumOff val="3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6240" tIns="36195" rIns="144145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2400" b="1" spc="100">
              <a:solidFill>
                <a:srgbClr val="FFFFFF"/>
              </a:solidFill>
              <a:uFillTx/>
              <a:sym typeface="+mn-ea"/>
            </a:endParaRPr>
          </a:p>
        </p:txBody>
      </p:sp>
      <p:sp>
        <p:nvSpPr>
          <p:cNvPr id="403" name="任意多边形: 形状 402"/>
          <p:cNvSpPr/>
          <p:nvPr>
            <p:custDataLst>
              <p:tags r:id="rId4"/>
            </p:custDataLst>
          </p:nvPr>
        </p:nvSpPr>
        <p:spPr>
          <a:xfrm>
            <a:off x="695960" y="1421130"/>
            <a:ext cx="10764520" cy="520700"/>
          </a:xfrm>
          <a:custGeom>
            <a:avLst/>
            <a:gdLst>
              <a:gd name="connsiteX0" fmla="*/ 10659237 w 10659236"/>
              <a:gd name="connsiteY0" fmla="*/ 204826 h 520446"/>
              <a:gd name="connsiteX1" fmla="*/ 10659237 w 10659236"/>
              <a:gd name="connsiteY1" fmla="*/ 520446 h 520446"/>
              <a:gd name="connsiteX2" fmla="*/ 0 w 10659236"/>
              <a:gd name="connsiteY2" fmla="*/ 520446 h 520446"/>
              <a:gd name="connsiteX3" fmla="*/ 0 w 10659236"/>
              <a:gd name="connsiteY3" fmla="*/ 0 h 520446"/>
              <a:gd name="connsiteX4" fmla="*/ 10454411 w 10659236"/>
              <a:gd name="connsiteY4" fmla="*/ 0 h 520446"/>
              <a:gd name="connsiteX5" fmla="*/ 10659237 w 10659236"/>
              <a:gd name="connsiteY5" fmla="*/ 204826 h 520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659236" h="520446">
                <a:moveTo>
                  <a:pt x="10659237" y="204826"/>
                </a:moveTo>
                <a:lnTo>
                  <a:pt x="10659237" y="520446"/>
                </a:lnTo>
                <a:lnTo>
                  <a:pt x="0" y="520446"/>
                </a:lnTo>
                <a:lnTo>
                  <a:pt x="0" y="0"/>
                </a:lnTo>
                <a:lnTo>
                  <a:pt x="10454411" y="0"/>
                </a:lnTo>
                <a:cubicBezTo>
                  <a:pt x="10567493" y="0"/>
                  <a:pt x="10659237" y="91669"/>
                  <a:pt x="10659237" y="204826"/>
                </a:cubicBezTo>
                <a:close/>
              </a:path>
            </a:pathLst>
          </a:custGeom>
          <a:noFill/>
          <a:ln w="6350" cap="flat">
            <a:gradFill>
              <a:gsLst>
                <a:gs pos="0">
                  <a:schemeClr val="accent1">
                    <a:alpha val="63000"/>
                  </a:schemeClr>
                </a:gs>
                <a:gs pos="100000">
                  <a:schemeClr val="accent1">
                    <a:alpha val="15000"/>
                  </a:schemeClr>
                </a:gs>
              </a:gsLst>
              <a:lin ang="768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090295" y="2461895"/>
            <a:ext cx="9992995" cy="3039110"/>
          </a:xfrm>
          <a:prstGeom prst="rect">
            <a:avLst/>
          </a:prstGeom>
          <a:noFill/>
        </p:spPr>
        <p:txBody>
          <a:bodyPr wrap="square" lIns="0" tIns="45720" rIns="91440" bIns="45720"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just" fontAlgn="auto">
              <a:lnSpc>
                <a:spcPct val="150000"/>
              </a:lnSpc>
              <a:spcAft>
                <a:spcPts val="80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次要功能：</a:t>
            </a:r>
            <a:endParaRPr lang="zh-CN" altLang="en-US" sz="2000" b="1">
              <a:solidFill>
                <a:schemeClr val="tx1"/>
              </a:solidFill>
            </a:endParaRPr>
          </a:p>
          <a:p>
            <a:pPr marL="457200" lvl="1" indent="0" algn="just" fontAlgn="auto">
              <a:lnSpc>
                <a:spcPct val="150000"/>
              </a:lnSpc>
              <a:spcAft>
                <a:spcPts val="800"/>
              </a:spcAft>
            </a:pPr>
            <a:r>
              <a:rPr lang="zh-CN" altLang="en-US" sz="2000" b="1">
                <a:ea typeface="华文中宋" panose="02010600040101010101" charset="-122"/>
              </a:rPr>
              <a:t>多语言支持</a:t>
            </a:r>
            <a:r>
              <a:rPr lang="en-US" altLang="zh-CN" sz="2000" b="1">
                <a:ea typeface="华文中宋" panose="02010600040101010101" charset="-122"/>
              </a:rPr>
              <a:t> </a:t>
            </a:r>
            <a:r>
              <a:rPr lang="zh-CN" altLang="en-US" sz="2000" b="1">
                <a:ea typeface="华文中宋" panose="02010600040101010101" charset="-122"/>
              </a:rPr>
              <a:t>：</a:t>
            </a:r>
            <a:r>
              <a:rPr lang="zh-CN" altLang="en-US" sz="2000">
                <a:ea typeface="华文中宋" panose="02010600040101010101" charset="-122"/>
              </a:rPr>
              <a:t>适配中文、英文等主流语言,覆盖跨境购物场景。</a:t>
            </a:r>
            <a:endParaRPr lang="zh-CN" altLang="en-US" sz="2000">
              <a:ea typeface="华文中宋" panose="02010600040101010101" charset="-122"/>
            </a:endParaRPr>
          </a:p>
          <a:p>
            <a:pPr marL="457200" lvl="1" indent="0" algn="just" fontAlgn="auto">
              <a:lnSpc>
                <a:spcPct val="150000"/>
              </a:lnSpc>
              <a:spcAft>
                <a:spcPts val="800"/>
              </a:spcAft>
            </a:pPr>
            <a:r>
              <a:rPr lang="zh-CN" altLang="en-US" sz="2000" b="1">
                <a:ea typeface="华文中宋" panose="02010600040101010101" charset="-122"/>
              </a:rPr>
              <a:t>用户设置</a:t>
            </a:r>
            <a:r>
              <a:rPr lang="en-US" altLang="zh-CN" sz="2000" b="1">
                <a:ea typeface="华文中宋" panose="02010600040101010101" charset="-122"/>
              </a:rPr>
              <a:t> </a:t>
            </a:r>
            <a:r>
              <a:rPr lang="zh-CN" altLang="en-US" sz="2000" b="1">
                <a:ea typeface="华文中宋" panose="02010600040101010101" charset="-122"/>
              </a:rPr>
              <a:t>：</a:t>
            </a:r>
            <a:r>
              <a:rPr lang="zh-CN" altLang="en-US" sz="2000">
                <a:ea typeface="华文中宋" panose="02010600040101010101" charset="-122"/>
              </a:rPr>
              <a:t>支持个性化参数调整等</a:t>
            </a:r>
            <a:r>
              <a:rPr lang="zh-CN" altLang="en-US" sz="1600">
                <a:ea typeface="华文中宋" panose="02010600040101010101" charset="-122"/>
              </a:rPr>
              <a:t>。</a:t>
            </a:r>
            <a:endParaRPr lang="zh-CN" altLang="en-US" sz="1600">
              <a:ea typeface="华文中宋" panose="02010600040101010101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10715625" y="1638300"/>
            <a:ext cx="360000" cy="7556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94000">
                <a:schemeClr val="accent1">
                  <a:lumMod val="63000"/>
                  <a:lumOff val="3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6240" tIns="36195" rIns="144145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2400" b="1" spc="100">
              <a:solidFill>
                <a:srgbClr val="FFFFFF"/>
              </a:solidFill>
              <a:uFillTx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7"/>
            </p:custDataLst>
          </p:nvPr>
        </p:nvSpPr>
        <p:spPr>
          <a:xfrm>
            <a:off x="10580370" y="1638300"/>
            <a:ext cx="108000" cy="75565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94000">
                <a:schemeClr val="accent1">
                  <a:lumMod val="63000"/>
                  <a:lumOff val="37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6240" tIns="36195" rIns="144145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2400" b="1" spc="100">
              <a:solidFill>
                <a:srgbClr val="FFFFFF"/>
              </a:solidFill>
              <a:uFillTx/>
              <a:sym typeface="+mn-ea"/>
            </a:endParaRPr>
          </a:p>
        </p:txBody>
      </p:sp>
      <p:sp>
        <p:nvSpPr>
          <p:cNvPr id="4" name="任意多边形 3"/>
          <p:cNvSpPr/>
          <p:nvPr>
            <p:custDataLst>
              <p:tags r:id="rId8"/>
            </p:custDataLst>
          </p:nvPr>
        </p:nvSpPr>
        <p:spPr>
          <a:xfrm>
            <a:off x="684530" y="1427480"/>
            <a:ext cx="9440545" cy="5219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867" h="822">
                <a:moveTo>
                  <a:pt x="0" y="0"/>
                </a:moveTo>
                <a:lnTo>
                  <a:pt x="14456" y="0"/>
                </a:lnTo>
                <a:cubicBezTo>
                  <a:pt x="14683" y="0"/>
                  <a:pt x="14867" y="184"/>
                  <a:pt x="14867" y="411"/>
                </a:cubicBezTo>
                <a:cubicBezTo>
                  <a:pt x="14867" y="638"/>
                  <a:pt x="14683" y="822"/>
                  <a:pt x="14456" y="822"/>
                </a:cubicBezTo>
                <a:lnTo>
                  <a:pt x="0" y="82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5000">
                <a:schemeClr val="accent1"/>
              </a:gs>
              <a:gs pos="94000">
                <a:schemeClr val="accent1">
                  <a:lumMod val="63000"/>
                  <a:lumOff val="37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96240" tIns="36195" rIns="144145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sz="2400" b="1" spc="100">
                <a:solidFill>
                  <a:schemeClr val="lt1"/>
                </a:solidFill>
                <a:uFillTx/>
                <a:sym typeface="+mn-ea"/>
              </a:rPr>
              <a:t>产品功能设计</a:t>
            </a:r>
            <a:endParaRPr lang="zh-CN" altLang="en-US" sz="2400" b="1" spc="100">
              <a:solidFill>
                <a:schemeClr val="lt1"/>
              </a:solidFill>
              <a:uFillTx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>
                <a:sym typeface="+mn-ea"/>
              </a:rPr>
              <a:t>产品设计思路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产品交互设计</a:t>
            </a:r>
            <a:endParaRPr lang="en-US" altLang="zh-CN">
              <a:sym typeface="+mn-ea"/>
            </a:endParaRPr>
          </a:p>
        </p:txBody>
      </p:sp>
      <p:sp>
        <p:nvSpPr>
          <p:cNvPr id="5" name="图形 3"/>
          <p:cNvSpPr/>
          <p:nvPr>
            <p:custDataLst>
              <p:tags r:id="rId2"/>
            </p:custDataLst>
          </p:nvPr>
        </p:nvSpPr>
        <p:spPr>
          <a:xfrm>
            <a:off x="600710" y="1318895"/>
            <a:ext cx="5554980" cy="4953635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accent1"/>
          </a:solidFill>
          <a:ln w="624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图形 1"/>
          <p:cNvSpPr/>
          <p:nvPr>
            <p:custDataLst>
              <p:tags r:id="rId3"/>
            </p:custDataLst>
          </p:nvPr>
        </p:nvSpPr>
        <p:spPr>
          <a:xfrm flipH="1" flipV="1">
            <a:off x="5810250" y="1318260"/>
            <a:ext cx="5554980" cy="4953635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24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矩形 10"/>
          <p:cNvSpPr/>
          <p:nvPr>
            <p:custDataLst>
              <p:tags r:id="rId4"/>
            </p:custDataLst>
          </p:nvPr>
        </p:nvSpPr>
        <p:spPr>
          <a:xfrm>
            <a:off x="800200" y="2316889"/>
            <a:ext cx="4424422" cy="3192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>
                <a:ln>
                  <a:noFill/>
                  <a:prstDash val="sysDot"/>
                </a:ln>
                <a:solidFill>
                  <a:srgbClr val="FFFF00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快应用平台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打开应用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  <a:cs typeface="+mn-ea"/>
              </a:rPr>
              <a:t> → </a:t>
            </a:r>
            <a:r>
              <a:rPr lang="en-US" altLang="zh-CN" sz="1500" err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  <a:cs typeface="+mn-ea"/>
              </a:rPr>
              <a:t>用户进行</a:t>
            </a:r>
            <a:r>
              <a:rPr lang="en-US" altLang="zh-CN" sz="1500" b="1" err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  <a:cs typeface="+mn-ea"/>
              </a:rPr>
              <a:t>单模态输入或多模态输入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  <a:cs typeface="+mn-ea"/>
              </a:rPr>
              <a:t>→ 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上传内容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  <a:cs typeface="+mn-ea"/>
              </a:rPr>
              <a:t> → </a:t>
            </a:r>
            <a:r>
              <a:rPr lang="en-US" altLang="zh-CN" sz="1500" err="1">
                <a:ln>
                  <a:noFill/>
                  <a:prstDash val="sysDot"/>
                </a:ln>
                <a:solidFill>
                  <a:srgbClr val="FFFFFF"/>
                </a:solidFill>
                <a:latin typeface="Gill Sans MT" panose="020B0502020104020203"/>
                <a:ea typeface="华文中宋" panose="02010600040101010101" charset="-122"/>
                <a:cs typeface="+mn-ea"/>
              </a:rPr>
              <a:t>智能体</a:t>
            </a:r>
            <a:r>
              <a:rPr lang="en-US" altLang="zh-CN" sz="1500" b="1" err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自动生成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详细分析和建议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。用户可以进行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切换历史对话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和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展开新的对话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等二次操作。</a:t>
            </a:r>
            <a:endParaRPr lang="zh-CN" altLang="en-US" sz="1500">
              <a:ln>
                <a:noFill/>
                <a:prstDash val="sysDot"/>
              </a:ln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>
                <a:ln>
                  <a:noFill/>
                  <a:prstDash val="sysDot"/>
                </a:ln>
                <a:solidFill>
                  <a:srgbClr val="FFFF00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WebAPP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打开助手网址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  <a:cs typeface="+mn-ea"/>
              </a:rPr>
              <a:t>→</a:t>
            </a:r>
            <a:r>
              <a:rPr lang="en-US" sz="1500" err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用户进行</a:t>
            </a:r>
            <a:r>
              <a:rPr lang="en-US" sz="1500" b="1" err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单模态输入或多模态输入</a:t>
            </a:r>
            <a:r>
              <a:rPr 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→ 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上传内容</a:t>
            </a:r>
            <a:r>
              <a:rPr 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→ 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Gill Sans MT" panose="020B0502020104020203"/>
                <a:ea typeface="华文中宋" panose="02010600040101010101" charset="-122"/>
                <a:cs typeface="+mn-ea"/>
              </a:rPr>
              <a:t>智能体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自动生成</a:t>
            </a:r>
            <a:r>
              <a:rPr lang="zh-CN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详细分析和建议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。用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户可以进行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展开新的对话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等二次操作。</a:t>
            </a:r>
            <a:endParaRPr lang="en-US" altLang="zh-CN" sz="1500">
              <a:ln>
                <a:noFill/>
                <a:prstDash val="sysDot"/>
              </a:ln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>
                <a:ln>
                  <a:noFill/>
                  <a:prstDash val="sysDot"/>
                </a:ln>
                <a:solidFill>
                  <a:srgbClr val="FFFF00"/>
                </a:solidFill>
                <a:latin typeface="华文中宋" panose="02010600040101010101" charset="-122"/>
                <a:ea typeface="华文中宋" panose="02010600040101010101" charset="-122"/>
              </a:rPr>
              <a:t>本地部署: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根据文档指引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部署前后端服务器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Gill Sans MT" panose="020B0502020104020203"/>
                <a:ea typeface="+mn-lt"/>
              </a:rPr>
              <a:t>→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打开</a:t>
            </a:r>
            <a:r>
              <a:rPr lang="zh-CN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本地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前端</a:t>
            </a:r>
            <a:r>
              <a:rPr lang="zh-CN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网址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和</a:t>
            </a:r>
            <a:r>
              <a:rPr lang="zh-CN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后端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服务器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+mn-lt"/>
              </a:rPr>
              <a:t>→ </a:t>
            </a:r>
            <a:r>
              <a:rPr lang="zh-CN" altLang="en-US" sz="1500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</a:rPr>
              <a:t>用户进行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</a:rPr>
              <a:t>单模态输入或多模态输入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</a:rPr>
              <a:t>→ 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上传内容</a:t>
            </a:r>
            <a:r>
              <a:rPr lang="en-US" altLang="zh-CN" sz="1500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</a:rPr>
              <a:t> →</a:t>
            </a:r>
            <a:r>
              <a:rPr lang="en-US" sz="1500" err="1">
                <a:ln>
                  <a:noFill/>
                  <a:prstDash val="sysDot"/>
                </a:ln>
                <a:solidFill>
                  <a:srgbClr val="FFFFFF"/>
                </a:solidFill>
                <a:ea typeface="+mn-lt"/>
              </a:rPr>
              <a:t>智能体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自动生成</a:t>
            </a:r>
            <a:r>
              <a:rPr lang="zh-CN" altLang="en-US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详细分析和建议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。用户可以进行</a:t>
            </a:r>
            <a:r>
              <a:rPr lang="zh-CN" sz="1500" b="1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展开新的对话</a:t>
            </a:r>
            <a:r>
              <a:rPr lang="zh-CN" sz="1500">
                <a:ln>
                  <a:noFill/>
                  <a:prstDash val="sysDot"/>
                </a:ln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</a:rPr>
              <a:t>等二次操作。</a:t>
            </a:r>
            <a:endParaRPr lang="zh-CN" altLang="en-US" sz="1500" b="1">
              <a:ln>
                <a:noFill/>
                <a:prstDash val="sysDot"/>
              </a:ln>
              <a:solidFill>
                <a:srgbClr val="FFFF00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500">
              <a:ln>
                <a:noFill/>
                <a:prstDash val="sysDot"/>
              </a:ln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9" name="矩形 11"/>
          <p:cNvSpPr/>
          <p:nvPr>
            <p:custDataLst>
              <p:tags r:id="rId5"/>
            </p:custDataLst>
          </p:nvPr>
        </p:nvSpPr>
        <p:spPr>
          <a:xfrm>
            <a:off x="6855460" y="2700655"/>
            <a:ext cx="4317365" cy="31921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极简操作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500" u="sng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三步内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完成分析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上传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→ 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等待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→ 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查看结果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),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降低用户使用门槛。</a:t>
            </a:r>
            <a:endParaRPr lang="en-US" altLang="zh-CN" sz="15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5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可视化风险评估</a:t>
            </a:r>
            <a:r>
              <a:rPr lang="en-US" altLang="zh-CN" sz="15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0-10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星直观展示诈骗风险（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0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星可信，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10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星高危）。</a:t>
            </a:r>
            <a:r>
              <a:rPr lang="zh-CN" altLang="en-US" sz="1500" u="sng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自动标注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“低价诱骗”“虚假宣传”“私下交易” 等</a:t>
            </a:r>
            <a:r>
              <a:rPr lang="zh-CN" altLang="en-US" sz="1500" u="sng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具体风险类型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。智能给出应对建议，如"不要转账"、"联系警察"、"仔细鉴别".</a:t>
            </a:r>
            <a:endParaRPr lang="zh-CN" altLang="en-US" sz="15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500" b="1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引导式交互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分析结果自动推荐下一步操作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“要不要进一步分析两者差异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?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”</a:t>
            </a:r>
            <a:r>
              <a:rPr lang="en-US" altLang="zh-CN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),</a:t>
            </a:r>
            <a:r>
              <a:rPr lang="zh-CN" altLang="en-US" sz="15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提升用户粘性。</a:t>
            </a:r>
            <a:endParaRPr lang="zh-CN" altLang="en-US" sz="15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pic>
        <p:nvPicPr>
          <p:cNvPr id="13" name="图形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3505" y="1729105"/>
            <a:ext cx="549275" cy="734695"/>
          </a:xfrm>
          <a:prstGeom prst="rect">
            <a:avLst/>
          </a:prstGeom>
        </p:spPr>
      </p:pic>
      <p:sp>
        <p:nvSpPr>
          <p:cNvPr id="14" name="标题"/>
          <p:cNvSpPr txBox="1"/>
          <p:nvPr>
            <p:custDataLst>
              <p:tags r:id="rId9"/>
            </p:custDataLst>
          </p:nvPr>
        </p:nvSpPr>
        <p:spPr>
          <a:xfrm>
            <a:off x="1070610" y="1623060"/>
            <a:ext cx="3739515" cy="962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zh-CN" altLang="en-US" sz="2000" b="1" spc="300">
                <a:solidFill>
                  <a:srgbClr val="FFFFFF"/>
                </a:solidFill>
                <a:latin typeface="+mn-ea"/>
              </a:rPr>
              <a:t>核心交互流程</a:t>
            </a:r>
            <a:endParaRPr lang="zh-CN" altLang="en-US" sz="2000" b="1" spc="30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5" name="标题"/>
          <p:cNvSpPr txBox="1"/>
          <p:nvPr>
            <p:custDataLst>
              <p:tags r:id="rId10"/>
            </p:custDataLst>
          </p:nvPr>
        </p:nvSpPr>
        <p:spPr>
          <a:xfrm>
            <a:off x="7490460" y="1623060"/>
            <a:ext cx="3739515" cy="962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zh-CN" altLang="en-US" sz="2000" b="1" spc="300">
                <a:solidFill>
                  <a:schemeClr val="accent2"/>
                </a:solidFill>
                <a:latin typeface="+mn-ea"/>
              </a:rPr>
              <a:t>交互亮点</a:t>
            </a:r>
            <a:endParaRPr lang="zh-CN" altLang="en-US" sz="2000" b="1" spc="30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16" name="图片 3" descr="333438303937363b333438313037303bb6a8cebbb2fac6b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22465" y="1725295"/>
            <a:ext cx="685800" cy="6858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>
                <a:sym typeface="+mn-ea"/>
              </a:rPr>
              <a:t>产品设计思路</a:t>
            </a:r>
            <a:r>
              <a:rPr lang="en-US" altLang="zh-CN">
                <a:sym typeface="+mn-ea"/>
              </a:rPr>
              <a:t>-</a:t>
            </a:r>
            <a:r>
              <a:rPr lang="zh-CN" altLang="en-US"/>
              <a:t>涉及的</a:t>
            </a:r>
            <a:r>
              <a:rPr lang="en-US" altLang="zh-CN"/>
              <a:t> AI </a:t>
            </a:r>
            <a:r>
              <a:rPr lang="zh-CN" altLang="en-US"/>
              <a:t>能力</a:t>
            </a:r>
            <a:endParaRPr lang="zh-CN" altLang="en-US"/>
          </a:p>
        </p:txBody>
      </p:sp>
      <p:sp>
        <p:nvSpPr>
          <p:cNvPr id="6" name="椭圆 1"/>
          <p:cNvSpPr/>
          <p:nvPr>
            <p:custDataLst>
              <p:tags r:id="rId2"/>
            </p:custDataLst>
          </p:nvPr>
        </p:nvSpPr>
        <p:spPr>
          <a:xfrm rot="10800000">
            <a:off x="6000967" y="2111235"/>
            <a:ext cx="1877184" cy="1877184"/>
          </a:xfrm>
          <a:prstGeom prst="ellipse">
            <a:avLst/>
          </a:pr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椭圆 3"/>
          <p:cNvSpPr/>
          <p:nvPr>
            <p:custDataLst>
              <p:tags r:id="rId3"/>
            </p:custDataLst>
          </p:nvPr>
        </p:nvSpPr>
        <p:spPr>
          <a:xfrm rot="10800000">
            <a:off x="4423704" y="2111235"/>
            <a:ext cx="1877184" cy="1877184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椭圆 2"/>
          <p:cNvSpPr/>
          <p:nvPr>
            <p:custDataLst>
              <p:tags r:id="rId4"/>
            </p:custDataLst>
          </p:nvPr>
        </p:nvSpPr>
        <p:spPr>
          <a:xfrm rot="10800000">
            <a:off x="6000967" y="3759848"/>
            <a:ext cx="1877184" cy="1877184"/>
          </a:xfrm>
          <a:prstGeom prst="ellips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 rot="10800000">
            <a:off x="4423704" y="3759848"/>
            <a:ext cx="1877184" cy="1877184"/>
          </a:xfrm>
          <a:prstGeom prst="ellips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矩形 6"/>
          <p:cNvSpPr/>
          <p:nvPr>
            <p:custDataLst>
              <p:tags r:id="rId6"/>
            </p:custDataLst>
          </p:nvPr>
        </p:nvSpPr>
        <p:spPr>
          <a:xfrm>
            <a:off x="8221007" y="1959696"/>
            <a:ext cx="3150107" cy="174269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OCR文字提取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从图片中识别商品信息、价格、联系方式等关键文本。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图像理解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分析图片场景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“电商详情页”“聊天截图”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、识别虚假宣传元素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PS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痕迹”“模糊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logo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”等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13" name="矩形 11"/>
          <p:cNvSpPr/>
          <p:nvPr>
            <p:custDataLst>
              <p:tags r:id="rId7"/>
            </p:custDataLst>
          </p:nvPr>
        </p:nvSpPr>
        <p:spPr>
          <a:xfrm>
            <a:off x="8221007" y="1503187"/>
            <a:ext cx="3150107" cy="3662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2"/>
                </a:solidFill>
                <a:latin typeface="+mn-ea"/>
                <a:cs typeface="+mn-ea"/>
              </a:rPr>
              <a:t>多模态处理</a:t>
            </a:r>
            <a:endParaRPr lang="zh-CN" altLang="en-US" sz="2000" b="1" kern="0">
              <a:solidFill>
                <a:schemeClr val="accent2"/>
              </a:solidFill>
              <a:latin typeface="+mn-ea"/>
              <a:cs typeface="+mn-ea"/>
            </a:endParaRPr>
          </a:p>
        </p:txBody>
      </p:sp>
      <p:sp>
        <p:nvSpPr>
          <p:cNvPr id="15" name="矩形 13"/>
          <p:cNvSpPr/>
          <p:nvPr>
            <p:custDataLst>
              <p:tags r:id="rId8"/>
            </p:custDataLst>
          </p:nvPr>
        </p:nvSpPr>
        <p:spPr>
          <a:xfrm>
            <a:off x="8221007" y="4501755"/>
            <a:ext cx="3150107" cy="174269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多维度评分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结合价格偏离度、平台可信度、宣传合理性等数据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,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通过智能工作流判断风险星级。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智能应对建议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:智能给出应对建议，如"不要转账"、"联系警察"、"仔细鉴别"。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风险鉴别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:自动标注 “低价诱骗”“虚假宣传”“私下交易” 等具体风险类型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16" name="矩形 17"/>
          <p:cNvSpPr/>
          <p:nvPr>
            <p:custDataLst>
              <p:tags r:id="rId9"/>
            </p:custDataLst>
          </p:nvPr>
        </p:nvSpPr>
        <p:spPr>
          <a:xfrm>
            <a:off x="8221007" y="4045245"/>
            <a:ext cx="3150107" cy="3662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4"/>
                </a:solidFill>
                <a:latin typeface="+mn-ea"/>
                <a:cs typeface="+mn-ea"/>
              </a:rPr>
              <a:t>风险评估模型</a:t>
            </a:r>
            <a:endParaRPr lang="zh-CN" altLang="en-US" sz="2000" b="1" kern="0">
              <a:solidFill>
                <a:schemeClr val="accent4"/>
              </a:solidFill>
              <a:latin typeface="+mn-ea"/>
              <a:cs typeface="+mn-ea"/>
            </a:endParaRPr>
          </a:p>
        </p:txBody>
      </p:sp>
      <p:sp>
        <p:nvSpPr>
          <p:cNvPr id="27" name="矩形 22"/>
          <p:cNvSpPr/>
          <p:nvPr>
            <p:custDataLst>
              <p:tags r:id="rId10"/>
            </p:custDataLst>
          </p:nvPr>
        </p:nvSpPr>
        <p:spPr>
          <a:xfrm>
            <a:off x="660586" y="1959696"/>
            <a:ext cx="3481411" cy="175594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文本分类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识别聊天记录中的诈骗话术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“限时低价”“私下交易”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意图识别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理解用户输入意图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“判断平台是否正规”“分析宣传真实性”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多轮对话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支持上下文延续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如用户追问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“如何验证资质”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,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基于历史分析提供答案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28" name="矩形 23"/>
          <p:cNvSpPr/>
          <p:nvPr>
            <p:custDataLst>
              <p:tags r:id="rId11"/>
            </p:custDataLst>
          </p:nvPr>
        </p:nvSpPr>
        <p:spPr>
          <a:xfrm>
            <a:off x="819612" y="1503187"/>
            <a:ext cx="3150107" cy="3662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自然语言处理</a:t>
            </a:r>
            <a:r>
              <a:rPr lang="en-US" altLang="zh-CN" sz="2000" b="1" kern="0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(NLP/LLM)</a:t>
            </a:r>
            <a:endParaRPr lang="en-US" altLang="zh-CN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29" name="矩形 24"/>
          <p:cNvSpPr/>
          <p:nvPr>
            <p:custDataLst>
              <p:tags r:id="rId12"/>
            </p:custDataLst>
          </p:nvPr>
        </p:nvSpPr>
        <p:spPr>
          <a:xfrm>
            <a:off x="660586" y="4501755"/>
            <a:ext cx="3488037" cy="2047493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10000+诈骗知识库集成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基于诈骗案例库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(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如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“低价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 iPhone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诈骗”“微商假货套路”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)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辅助风险判断。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智能调用实时联网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:能够智能识别用户需求，智能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调用搜索引擎，验证平台资质、查询诈骗案例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,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增强分析时效性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特质化查询改写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:专为购物反诈设计一套查询改写机制,提高查询和判断准确性。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30" name="矩形 25"/>
          <p:cNvSpPr/>
          <p:nvPr>
            <p:custDataLst>
              <p:tags r:id="rId13"/>
            </p:custDataLst>
          </p:nvPr>
        </p:nvSpPr>
        <p:spPr>
          <a:xfrm>
            <a:off x="819612" y="4045245"/>
            <a:ext cx="3150107" cy="36621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3"/>
                </a:solidFill>
                <a:latin typeface="+mn-ea"/>
                <a:cs typeface="+mn-ea"/>
              </a:rPr>
              <a:t>检索增强生成</a:t>
            </a:r>
            <a:r>
              <a:rPr lang="en-US" altLang="zh-CN" sz="2000" b="1" kern="0">
                <a:solidFill>
                  <a:schemeClr val="accent3"/>
                </a:solidFill>
                <a:latin typeface="+mn-ea"/>
                <a:cs typeface="+mn-ea"/>
              </a:rPr>
              <a:t>(RAG)</a:t>
            </a:r>
            <a:endParaRPr lang="en-US" altLang="zh-CN" sz="2000" b="1" kern="0">
              <a:solidFill>
                <a:schemeClr val="accent3"/>
              </a:solidFill>
              <a:latin typeface="+mn-ea"/>
              <a:cs typeface="+mn-ea"/>
            </a:endParaRPr>
          </a:p>
        </p:txBody>
      </p:sp>
      <p:pic>
        <p:nvPicPr>
          <p:cNvPr id="31" name="图片 4" descr="343439383331313b343532303032303bb8f6c8cbd0c5cfa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46032" y="2856299"/>
            <a:ext cx="386601" cy="386601"/>
          </a:xfrm>
          <a:prstGeom prst="rect">
            <a:avLst/>
          </a:prstGeom>
        </p:spPr>
      </p:pic>
      <p:pic>
        <p:nvPicPr>
          <p:cNvPr id="32" name="图片 11" descr="343439383331313b343532303032373bbfcdbba7b5b5b0b8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42875" y="4501755"/>
            <a:ext cx="393762" cy="393762"/>
          </a:xfrm>
          <a:prstGeom prst="rect">
            <a:avLst/>
          </a:prstGeom>
        </p:spPr>
      </p:pic>
      <p:pic>
        <p:nvPicPr>
          <p:cNvPr id="33" name="图片 7" descr="343439383331313b343532303032333bc6f3d2b5bcf2bde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168768" y="4504912"/>
            <a:ext cx="386602" cy="386602"/>
          </a:xfrm>
          <a:prstGeom prst="rect">
            <a:avLst/>
          </a:prstGeom>
        </p:spPr>
      </p:pic>
      <p:pic>
        <p:nvPicPr>
          <p:cNvPr id="34" name="图片 3" descr="343439383331313b343532303031393bd2b5bca8b9dcc0ed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65611" y="2853142"/>
            <a:ext cx="393762" cy="393762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45698" y="267878"/>
            <a:ext cx="9300603" cy="661670"/>
          </a:xfrm>
        </p:spPr>
        <p:txBody>
          <a:bodyPr/>
          <a:lstStyle/>
          <a:p>
            <a:r>
              <a:rPr lang="zh-CN" altLang="en-US">
                <a:sym typeface="+mn-ea"/>
              </a:rPr>
              <a:t>产品设计思路</a:t>
            </a:r>
            <a:endParaRPr lang="zh-CN" altLang="en-US"/>
          </a:p>
        </p:txBody>
      </p:sp>
      <p:cxnSp>
        <p:nvCxnSpPr>
          <p:cNvPr id="126" name="直接连接符 125"/>
          <p:cNvCxnSpPr/>
          <p:nvPr>
            <p:custDataLst>
              <p:tags r:id="rId1"/>
            </p:custDataLst>
          </p:nvPr>
        </p:nvCxnSpPr>
        <p:spPr>
          <a:xfrm flipV="1">
            <a:off x="911225" y="2754630"/>
            <a:ext cx="3477600" cy="2540"/>
          </a:xfrm>
          <a:prstGeom prst="line">
            <a:avLst/>
          </a:prstGeom>
          <a:noFill/>
          <a:ln w="25400" cap="flat">
            <a:gradFill>
              <a:gsLst>
                <a:gs pos="7000">
                  <a:schemeClr val="accent1">
                    <a:alpha val="5000"/>
                  </a:schemeClr>
                </a:gs>
                <a:gs pos="100000">
                  <a:schemeClr val="accent1">
                    <a:alpha val="11000"/>
                  </a:schemeClr>
                </a:gs>
              </a:gsLst>
              <a:lin ang="0" scaled="0"/>
            </a:gradFill>
            <a:prstDash val="solid"/>
            <a:miter/>
          </a:ln>
        </p:spPr>
      </p:cxnSp>
      <p:sp>
        <p:nvSpPr>
          <p:cNvPr id="3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06595" y="1403350"/>
            <a:ext cx="3476625" cy="2506980"/>
          </a:xfrm>
          <a:prstGeom prst="rect">
            <a:avLst/>
          </a:prstGeom>
        </p:spPr>
        <p:txBody>
          <a:bodyPr vert="horz" wrap="square" lIns="0" tIns="0" rIns="91440" bIns="46800" rtlCol="0" anchor="t" anchorCtr="0">
            <a:no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500"/>
              <a:t>功能流程图</a:t>
            </a:r>
            <a:endParaRPr lang="zh-CN" altLang="en-US" sz="4500"/>
          </a:p>
        </p:txBody>
      </p:sp>
      <p:sp>
        <p:nvSpPr>
          <p:cNvPr id="121" name="图形 2"/>
          <p:cNvSpPr/>
          <p:nvPr>
            <p:custDataLst>
              <p:tags r:id="rId3"/>
            </p:custDataLst>
          </p:nvPr>
        </p:nvSpPr>
        <p:spPr>
          <a:xfrm>
            <a:off x="911225" y="1649730"/>
            <a:ext cx="673100" cy="655320"/>
          </a:xfrm>
          <a:custGeom>
            <a:avLst/>
            <a:gdLst>
              <a:gd name="connsiteX0" fmla="*/ 0 w 444792"/>
              <a:gd name="connsiteY0" fmla="*/ 242311 h 432249"/>
              <a:gd name="connsiteX1" fmla="*/ 36408 w 444792"/>
              <a:gd name="connsiteY1" fmla="*/ 100101 h 432249"/>
              <a:gd name="connsiteX2" fmla="*/ 162654 w 444792"/>
              <a:gd name="connsiteY2" fmla="*/ 0 h 432249"/>
              <a:gd name="connsiteX3" fmla="*/ 205903 w 444792"/>
              <a:gd name="connsiteY3" fmla="*/ 73956 h 432249"/>
              <a:gd name="connsiteX4" fmla="*/ 110363 w 444792"/>
              <a:gd name="connsiteY4" fmla="*/ 141640 h 432249"/>
              <a:gd name="connsiteX5" fmla="*/ 84218 w 444792"/>
              <a:gd name="connsiteY5" fmla="*/ 242311 h 432249"/>
              <a:gd name="connsiteX6" fmla="*/ 190020 w 444792"/>
              <a:gd name="connsiteY6" fmla="*/ 242311 h 432249"/>
              <a:gd name="connsiteX7" fmla="*/ 190020 w 444792"/>
              <a:gd name="connsiteY7" fmla="*/ 432250 h 432249"/>
              <a:gd name="connsiteX8" fmla="*/ 0 w 444792"/>
              <a:gd name="connsiteY8" fmla="*/ 432250 h 432249"/>
              <a:gd name="connsiteX9" fmla="*/ 0 w 444792"/>
              <a:gd name="connsiteY9" fmla="*/ 242311 h 432249"/>
              <a:gd name="connsiteX10" fmla="*/ 238890 w 444792"/>
              <a:gd name="connsiteY10" fmla="*/ 242311 h 432249"/>
              <a:gd name="connsiteX11" fmla="*/ 275297 w 444792"/>
              <a:gd name="connsiteY11" fmla="*/ 100101 h 432249"/>
              <a:gd name="connsiteX12" fmla="*/ 401543 w 444792"/>
              <a:gd name="connsiteY12" fmla="*/ 0 h 432249"/>
              <a:gd name="connsiteX13" fmla="*/ 444792 w 444792"/>
              <a:gd name="connsiteY13" fmla="*/ 73956 h 432249"/>
              <a:gd name="connsiteX14" fmla="*/ 349253 w 444792"/>
              <a:gd name="connsiteY14" fmla="*/ 141640 h 432249"/>
              <a:gd name="connsiteX15" fmla="*/ 323108 w 444792"/>
              <a:gd name="connsiteY15" fmla="*/ 242311 h 432249"/>
              <a:gd name="connsiteX16" fmla="*/ 428910 w 444792"/>
              <a:gd name="connsiteY16" fmla="*/ 242311 h 432249"/>
              <a:gd name="connsiteX17" fmla="*/ 428910 w 444792"/>
              <a:gd name="connsiteY17" fmla="*/ 432250 h 432249"/>
              <a:gd name="connsiteX18" fmla="*/ 238971 w 444792"/>
              <a:gd name="connsiteY18" fmla="*/ 432250 h 432249"/>
              <a:gd name="connsiteX19" fmla="*/ 238971 w 444792"/>
              <a:gd name="connsiteY19" fmla="*/ 242311 h 43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4792" h="432249">
                <a:moveTo>
                  <a:pt x="0" y="242311"/>
                </a:moveTo>
                <a:cubicBezTo>
                  <a:pt x="0" y="187007"/>
                  <a:pt x="12136" y="139604"/>
                  <a:pt x="36408" y="100101"/>
                </a:cubicBezTo>
                <a:cubicBezTo>
                  <a:pt x="60679" y="60680"/>
                  <a:pt x="102789" y="27285"/>
                  <a:pt x="162654" y="0"/>
                </a:cubicBezTo>
                <a:lnTo>
                  <a:pt x="205903" y="73956"/>
                </a:lnTo>
                <a:cubicBezTo>
                  <a:pt x="159640" y="95947"/>
                  <a:pt x="127793" y="118508"/>
                  <a:pt x="110363" y="141640"/>
                </a:cubicBezTo>
                <a:cubicBezTo>
                  <a:pt x="92933" y="164771"/>
                  <a:pt x="84218" y="198328"/>
                  <a:pt x="84218" y="242311"/>
                </a:cubicBezTo>
                <a:lnTo>
                  <a:pt x="190020" y="242311"/>
                </a:lnTo>
                <a:lnTo>
                  <a:pt x="190020" y="432250"/>
                </a:lnTo>
                <a:lnTo>
                  <a:pt x="0" y="432250"/>
                </a:lnTo>
                <a:lnTo>
                  <a:pt x="0" y="242311"/>
                </a:lnTo>
                <a:close/>
                <a:moveTo>
                  <a:pt x="238890" y="242311"/>
                </a:moveTo>
                <a:cubicBezTo>
                  <a:pt x="238890" y="187007"/>
                  <a:pt x="251025" y="139604"/>
                  <a:pt x="275297" y="100101"/>
                </a:cubicBezTo>
                <a:cubicBezTo>
                  <a:pt x="299569" y="60680"/>
                  <a:pt x="341678" y="27285"/>
                  <a:pt x="401543" y="0"/>
                </a:cubicBezTo>
                <a:lnTo>
                  <a:pt x="444792" y="73956"/>
                </a:lnTo>
                <a:cubicBezTo>
                  <a:pt x="398530" y="95947"/>
                  <a:pt x="366683" y="118508"/>
                  <a:pt x="349253" y="141640"/>
                </a:cubicBezTo>
                <a:cubicBezTo>
                  <a:pt x="331823" y="164771"/>
                  <a:pt x="323108" y="198328"/>
                  <a:pt x="323108" y="242311"/>
                </a:cubicBezTo>
                <a:lnTo>
                  <a:pt x="428910" y="242311"/>
                </a:lnTo>
                <a:lnTo>
                  <a:pt x="428910" y="432250"/>
                </a:lnTo>
                <a:lnTo>
                  <a:pt x="238971" y="432250"/>
                </a:lnTo>
                <a:lnTo>
                  <a:pt x="238971" y="24231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426000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5" y="3362325"/>
            <a:ext cx="11766550" cy="13322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589280" y="1789430"/>
            <a:ext cx="11042015" cy="4831715"/>
          </a:xfrm>
          <a:prstGeom prst="rect">
            <a:avLst/>
          </a:prstGeom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589280" y="1789430"/>
            <a:ext cx="11042015" cy="4831715"/>
          </a:xfrm>
          <a:prstGeom prst="rect">
            <a:avLst/>
          </a:prstGeom>
          <a:solidFill>
            <a:srgbClr val="FFFFFF">
              <a:alpha val="15000"/>
            </a:srgbClr>
          </a:solidFill>
          <a:ln w="349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2150745" y="1430655"/>
            <a:ext cx="7915910" cy="726440"/>
          </a:xfrm>
          <a:solidFill>
            <a:schemeClr val="accent1"/>
          </a:solidFill>
        </p:spPr>
        <p:txBody>
          <a:bodyPr>
            <a:no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  <a:sym typeface="+mn-ea"/>
              </a:rPr>
              <a:t>数据流程图</a:t>
            </a:r>
            <a:endParaRPr lang="zh-CN" altLang="en-US" b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1445698" y="267878"/>
            <a:ext cx="9300603" cy="661670"/>
          </a:xfrm>
          <a:prstGeom prst="rect">
            <a:avLst/>
          </a:prstGeom>
        </p:spPr>
        <p:txBody>
          <a:bodyPr vert="horz" wrap="square" lIns="0" tIns="0" rIns="91440" bIns="4680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32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r>
              <a:rPr lang="zh-CN" altLang="en-US">
                <a:sym typeface="+mn-ea"/>
              </a:rPr>
              <a:t>产品设计思路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V="1">
            <a:off x="688975" y="3481070"/>
            <a:ext cx="10798175" cy="94043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作品策划</a:t>
            </a:r>
            <a:endParaRPr lang="zh-CN" altLang="en-US"/>
          </a:p>
        </p:txBody>
      </p:sp>
      <p:sp>
        <p:nvSpPr>
          <p:cNvPr id="9" name="任意多边形 14"/>
          <p:cNvSpPr/>
          <p:nvPr>
            <p:custDataLst>
              <p:tags r:id="rId2"/>
            </p:custDataLst>
          </p:nvPr>
        </p:nvSpPr>
        <p:spPr>
          <a:xfrm rot="2700000">
            <a:off x="5473383" y="3235325"/>
            <a:ext cx="1283970" cy="1282065"/>
          </a:xfrm>
          <a:custGeom>
            <a:avLst/>
            <a:gdLst>
              <a:gd name="connsiteX0" fmla="*/ 731 w 2016"/>
              <a:gd name="connsiteY0" fmla="*/ 742 h 2010"/>
              <a:gd name="connsiteX1" fmla="*/ 2016 w 2016"/>
              <a:gd name="connsiteY1" fmla="*/ 0 h 2010"/>
              <a:gd name="connsiteX2" fmla="*/ 2016 w 2016"/>
              <a:gd name="connsiteY2" fmla="*/ 2010 h 2010"/>
              <a:gd name="connsiteX3" fmla="*/ 0 w 2016"/>
              <a:gd name="connsiteY3" fmla="*/ 2010 h 2010"/>
              <a:gd name="connsiteX4" fmla="*/ 731 w 2016"/>
              <a:gd name="connsiteY4" fmla="*/ 742 h 2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6" h="2010">
                <a:moveTo>
                  <a:pt x="731" y="742"/>
                </a:moveTo>
                <a:lnTo>
                  <a:pt x="2016" y="0"/>
                </a:lnTo>
                <a:lnTo>
                  <a:pt x="2016" y="2010"/>
                </a:lnTo>
                <a:lnTo>
                  <a:pt x="0" y="2010"/>
                </a:lnTo>
                <a:lnTo>
                  <a:pt x="731" y="742"/>
                </a:lnTo>
                <a:close/>
              </a:path>
            </a:pathLst>
          </a:custGeom>
          <a:gradFill>
            <a:gsLst>
              <a:gs pos="41000">
                <a:schemeClr val="accent1">
                  <a:lumMod val="81000"/>
                  <a:lumOff val="19000"/>
                  <a:alpha val="100000"/>
                </a:schemeClr>
              </a:gs>
              <a:gs pos="100000">
                <a:schemeClr val="accent1">
                  <a:lumMod val="58000"/>
                  <a:alpha val="100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4" name="任意多边形 12"/>
          <p:cNvSpPr/>
          <p:nvPr>
            <p:custDataLst>
              <p:tags r:id="rId3"/>
            </p:custDataLst>
          </p:nvPr>
        </p:nvSpPr>
        <p:spPr>
          <a:xfrm flipH="1" flipV="1">
            <a:off x="5208588" y="3874770"/>
            <a:ext cx="911860" cy="1607820"/>
          </a:xfrm>
          <a:custGeom>
            <a:avLst/>
            <a:gdLst>
              <a:gd name="connsiteX0" fmla="*/ 0 w 1436"/>
              <a:gd name="connsiteY0" fmla="*/ 2024 h 2532"/>
              <a:gd name="connsiteX1" fmla="*/ 2 w 1436"/>
              <a:gd name="connsiteY1" fmla="*/ 0 h 2532"/>
              <a:gd name="connsiteX2" fmla="*/ 1436 w 1436"/>
              <a:gd name="connsiteY2" fmla="*/ 2532 h 2532"/>
              <a:gd name="connsiteX3" fmla="*/ 0 w 1436"/>
              <a:gd name="connsiteY3" fmla="*/ 2024 h 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6" h="2532">
                <a:moveTo>
                  <a:pt x="0" y="2024"/>
                </a:moveTo>
                <a:lnTo>
                  <a:pt x="2" y="0"/>
                </a:lnTo>
                <a:lnTo>
                  <a:pt x="1436" y="2532"/>
                </a:lnTo>
                <a:lnTo>
                  <a:pt x="0" y="2024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6" name="任意多边形 13"/>
          <p:cNvSpPr/>
          <p:nvPr>
            <p:custDataLst>
              <p:tags r:id="rId4"/>
            </p:custDataLst>
          </p:nvPr>
        </p:nvSpPr>
        <p:spPr>
          <a:xfrm flipV="1">
            <a:off x="6117908" y="3879215"/>
            <a:ext cx="905510" cy="1603375"/>
          </a:xfrm>
          <a:custGeom>
            <a:avLst/>
            <a:gdLst>
              <a:gd name="connsiteX0" fmla="*/ 0 w 1426"/>
              <a:gd name="connsiteY0" fmla="*/ 2016 h 2525"/>
              <a:gd name="connsiteX1" fmla="*/ 0 w 1426"/>
              <a:gd name="connsiteY1" fmla="*/ 0 h 2525"/>
              <a:gd name="connsiteX2" fmla="*/ 1426 w 1426"/>
              <a:gd name="connsiteY2" fmla="*/ 2525 h 2525"/>
              <a:gd name="connsiteX3" fmla="*/ 0 w 1426"/>
              <a:gd name="connsiteY3" fmla="*/ 2016 h 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26" h="2525">
                <a:moveTo>
                  <a:pt x="0" y="2016"/>
                </a:moveTo>
                <a:lnTo>
                  <a:pt x="0" y="0"/>
                </a:lnTo>
                <a:lnTo>
                  <a:pt x="1426" y="2525"/>
                </a:lnTo>
                <a:lnTo>
                  <a:pt x="0" y="2016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15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8" name="椭圆 15"/>
          <p:cNvSpPr/>
          <p:nvPr>
            <p:custDataLst>
              <p:tags r:id="rId5"/>
            </p:custDataLst>
          </p:nvPr>
        </p:nvSpPr>
        <p:spPr>
          <a:xfrm>
            <a:off x="3910648" y="3315335"/>
            <a:ext cx="4403090" cy="1121410"/>
          </a:xfrm>
          <a:prstGeom prst="ellipse">
            <a:avLst/>
          </a:prstGeom>
          <a:gradFill>
            <a:gsLst>
              <a:gs pos="100000">
                <a:schemeClr val="accent2">
                  <a:lumMod val="60000"/>
                  <a:lumOff val="40000"/>
                  <a:alpha val="42000"/>
                </a:schemeClr>
              </a:gs>
              <a:gs pos="42000">
                <a:schemeClr val="accent2">
                  <a:lumMod val="20000"/>
                  <a:lumOff val="80000"/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7620">
            <a:gradFill>
              <a:gsLst>
                <a:gs pos="65000">
                  <a:schemeClr val="accent2">
                    <a:lumMod val="50000"/>
                    <a:lumOff val="50000"/>
                    <a:alpha val="100000"/>
                  </a:schemeClr>
                </a:gs>
                <a:gs pos="39000">
                  <a:schemeClr val="accent2">
                    <a:lumMod val="50000"/>
                    <a:lumOff val="50000"/>
                    <a:alpha val="100000"/>
                  </a:schemeClr>
                </a:gs>
                <a:gs pos="100000">
                  <a:schemeClr val="accent2">
                    <a:lumMod val="60000"/>
                    <a:lumOff val="40000"/>
                    <a:alpha val="100000"/>
                  </a:schemeClr>
                </a:gs>
                <a:gs pos="0">
                  <a:schemeClr val="accent2">
                    <a:lumMod val="80000"/>
                    <a:alpha val="100000"/>
                  </a:schemeClr>
                </a:gs>
              </a:gsLst>
              <a:lin ang="1548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39" name="任意多边形 7"/>
          <p:cNvSpPr/>
          <p:nvPr>
            <p:custDataLst>
              <p:tags r:id="rId6"/>
            </p:custDataLst>
          </p:nvPr>
        </p:nvSpPr>
        <p:spPr>
          <a:xfrm flipH="1">
            <a:off x="5208588" y="2011680"/>
            <a:ext cx="910590" cy="1943100"/>
          </a:xfrm>
          <a:custGeom>
            <a:avLst/>
            <a:gdLst>
              <a:gd name="connsiteX0" fmla="*/ 0 w 1434"/>
              <a:gd name="connsiteY0" fmla="*/ 3060 h 3060"/>
              <a:gd name="connsiteX1" fmla="*/ 0 w 1434"/>
              <a:gd name="connsiteY1" fmla="*/ 0 h 3060"/>
              <a:gd name="connsiteX2" fmla="*/ 1434 w 1434"/>
              <a:gd name="connsiteY2" fmla="*/ 2554 h 3060"/>
              <a:gd name="connsiteX3" fmla="*/ 0 w 1434"/>
              <a:gd name="connsiteY3" fmla="*/ 3060 h 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4" h="3060">
                <a:moveTo>
                  <a:pt x="0" y="3060"/>
                </a:moveTo>
                <a:lnTo>
                  <a:pt x="0" y="0"/>
                </a:lnTo>
                <a:lnTo>
                  <a:pt x="1434" y="2554"/>
                </a:lnTo>
                <a:lnTo>
                  <a:pt x="0" y="3060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0" name="任意多边形 9"/>
          <p:cNvSpPr/>
          <p:nvPr>
            <p:custDataLst>
              <p:tags r:id="rId7"/>
            </p:custDataLst>
          </p:nvPr>
        </p:nvSpPr>
        <p:spPr>
          <a:xfrm>
            <a:off x="6117908" y="2011680"/>
            <a:ext cx="910590" cy="1943100"/>
          </a:xfrm>
          <a:custGeom>
            <a:avLst/>
            <a:gdLst>
              <a:gd name="connsiteX0" fmla="*/ 0 w 1434"/>
              <a:gd name="connsiteY0" fmla="*/ 3060 h 3060"/>
              <a:gd name="connsiteX1" fmla="*/ 0 w 1434"/>
              <a:gd name="connsiteY1" fmla="*/ 0 h 3060"/>
              <a:gd name="connsiteX2" fmla="*/ 1434 w 1434"/>
              <a:gd name="connsiteY2" fmla="*/ 2554 h 3060"/>
              <a:gd name="connsiteX3" fmla="*/ 0 w 1434"/>
              <a:gd name="connsiteY3" fmla="*/ 3060 h 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4" h="3060">
                <a:moveTo>
                  <a:pt x="0" y="3060"/>
                </a:moveTo>
                <a:lnTo>
                  <a:pt x="0" y="0"/>
                </a:lnTo>
                <a:lnTo>
                  <a:pt x="1434" y="2554"/>
                </a:lnTo>
                <a:lnTo>
                  <a:pt x="0" y="3060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80000"/>
                  <a:alpha val="100000"/>
                </a:schemeClr>
              </a:gs>
              <a:gs pos="100000">
                <a:schemeClr val="accent1">
                  <a:lumMod val="70000"/>
                  <a:lumOff val="30000"/>
                  <a:alpha val="100000"/>
                </a:schemeClr>
              </a:gs>
            </a:gsLst>
            <a:lin ang="15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1" name="椭圆 27"/>
          <p:cNvSpPr/>
          <p:nvPr>
            <p:custDataLst>
              <p:tags r:id="rId8"/>
            </p:custDataLst>
          </p:nvPr>
        </p:nvSpPr>
        <p:spPr>
          <a:xfrm>
            <a:off x="5202873" y="5462270"/>
            <a:ext cx="1826260" cy="287020"/>
          </a:xfrm>
          <a:prstGeom prst="ellipse">
            <a:avLst/>
          </a:prstGeom>
          <a:gradFill>
            <a:gsLst>
              <a:gs pos="0">
                <a:schemeClr val="accent1">
                  <a:alpha val="19000"/>
                </a:schemeClr>
              </a:gs>
              <a:gs pos="100000">
                <a:srgbClr val="F2F2F2">
                  <a:alpha val="0"/>
                </a:srgbClr>
              </a:gs>
              <a:gs pos="47000">
                <a:schemeClr val="accent1">
                  <a:alpha val="24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4" name="任意多边形: 形状 3"/>
          <p:cNvSpPr/>
          <p:nvPr>
            <p:custDataLst>
              <p:tags r:id="rId9"/>
            </p:custDataLst>
          </p:nvPr>
        </p:nvSpPr>
        <p:spPr>
          <a:xfrm rot="1800000">
            <a:off x="3196273" y="1755472"/>
            <a:ext cx="478155" cy="414020"/>
          </a:xfrm>
          <a:custGeom>
            <a:avLst/>
            <a:gdLst/>
            <a:ahLst/>
            <a:cxnLst/>
            <a:rect l="0" t="0" r="0" b="0"/>
            <a:pathLst>
              <a:path w="127001" h="109987">
                <a:moveTo>
                  <a:pt x="31750" y="109986"/>
                </a:moveTo>
                <a:lnTo>
                  <a:pt x="95250" y="109986"/>
                </a:lnTo>
                <a:lnTo>
                  <a:pt x="127000" y="54993"/>
                </a:lnTo>
                <a:lnTo>
                  <a:pt x="95250" y="0"/>
                </a:lnTo>
                <a:lnTo>
                  <a:pt x="31750" y="0"/>
                </a:lnTo>
                <a:lnTo>
                  <a:pt x="0" y="5499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lumMod val="80000"/>
                  <a:lumOff val="2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1016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5" name="任意多边形: 形状 3"/>
          <p:cNvSpPr/>
          <p:nvPr>
            <p:custDataLst>
              <p:tags r:id="rId10"/>
            </p:custDataLst>
          </p:nvPr>
        </p:nvSpPr>
        <p:spPr>
          <a:xfrm rot="1800000">
            <a:off x="3196908" y="4498920"/>
            <a:ext cx="478155" cy="414020"/>
          </a:xfrm>
          <a:custGeom>
            <a:avLst/>
            <a:gdLst/>
            <a:ahLst/>
            <a:cxnLst/>
            <a:rect l="0" t="0" r="0" b="0"/>
            <a:pathLst>
              <a:path w="127001" h="109987">
                <a:moveTo>
                  <a:pt x="31750" y="109986"/>
                </a:moveTo>
                <a:lnTo>
                  <a:pt x="95250" y="109986"/>
                </a:lnTo>
                <a:lnTo>
                  <a:pt x="127000" y="54993"/>
                </a:lnTo>
                <a:lnTo>
                  <a:pt x="95250" y="0"/>
                </a:lnTo>
                <a:lnTo>
                  <a:pt x="31750" y="0"/>
                </a:lnTo>
                <a:lnTo>
                  <a:pt x="0" y="54993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100000"/>
                </a:schemeClr>
              </a:gs>
              <a:gs pos="100000">
                <a:schemeClr val="accent3">
                  <a:lumMod val="80000"/>
                  <a:lumOff val="2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101600" dir="5400000" sx="90000" sy="-19000" rotWithShape="0">
              <a:schemeClr val="accent3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46" name="任意多边形: 形状 3"/>
          <p:cNvSpPr/>
          <p:nvPr>
            <p:custDataLst>
              <p:tags r:id="rId11"/>
            </p:custDataLst>
          </p:nvPr>
        </p:nvSpPr>
        <p:spPr>
          <a:xfrm rot="1800000">
            <a:off x="8548052" y="1777613"/>
            <a:ext cx="478155" cy="414020"/>
          </a:xfrm>
          <a:custGeom>
            <a:avLst/>
            <a:gdLst/>
            <a:ahLst/>
            <a:cxnLst/>
            <a:rect l="0" t="0" r="0" b="0"/>
            <a:pathLst>
              <a:path w="127001" h="109987">
                <a:moveTo>
                  <a:pt x="31750" y="109986"/>
                </a:moveTo>
                <a:lnTo>
                  <a:pt x="95250" y="109986"/>
                </a:lnTo>
                <a:lnTo>
                  <a:pt x="127000" y="54993"/>
                </a:lnTo>
                <a:lnTo>
                  <a:pt x="95250" y="0"/>
                </a:lnTo>
                <a:lnTo>
                  <a:pt x="31750" y="0"/>
                </a:lnTo>
                <a:lnTo>
                  <a:pt x="0" y="54993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80000"/>
                  <a:lumOff val="2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1016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4" name="任意多边形: 形状 3"/>
          <p:cNvSpPr/>
          <p:nvPr>
            <p:custDataLst>
              <p:tags r:id="rId12"/>
            </p:custDataLst>
          </p:nvPr>
        </p:nvSpPr>
        <p:spPr>
          <a:xfrm rot="1800000">
            <a:off x="8548687" y="4481305"/>
            <a:ext cx="478155" cy="414020"/>
          </a:xfrm>
          <a:custGeom>
            <a:avLst/>
            <a:gdLst/>
            <a:ahLst/>
            <a:cxnLst/>
            <a:rect l="0" t="0" r="0" b="0"/>
            <a:pathLst>
              <a:path w="127001" h="109987">
                <a:moveTo>
                  <a:pt x="31750" y="109986"/>
                </a:moveTo>
                <a:lnTo>
                  <a:pt x="95250" y="109986"/>
                </a:lnTo>
                <a:lnTo>
                  <a:pt x="127000" y="54993"/>
                </a:lnTo>
                <a:lnTo>
                  <a:pt x="95250" y="0"/>
                </a:lnTo>
                <a:lnTo>
                  <a:pt x="31750" y="0"/>
                </a:lnTo>
                <a:lnTo>
                  <a:pt x="0" y="54993"/>
                </a:lnTo>
                <a:close/>
              </a:path>
            </a:pathLst>
          </a:custGeom>
          <a:gradFill>
            <a:gsLst>
              <a:gs pos="0">
                <a:schemeClr val="accent4">
                  <a:alpha val="100000"/>
                </a:schemeClr>
              </a:gs>
              <a:gs pos="100000">
                <a:schemeClr val="accent4">
                  <a:lumMod val="80000"/>
                  <a:lumOff val="20000"/>
                  <a:alpha val="100000"/>
                </a:schemeClr>
              </a:gs>
            </a:gsLst>
            <a:lin ang="16200000" scaled="0"/>
          </a:gradFill>
          <a:ln>
            <a:noFill/>
          </a:ln>
          <a:effectLst>
            <a:outerShdw blurRad="101600" dir="5400000" sx="90000" sy="-19000" rotWithShape="0">
              <a:schemeClr val="accent4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55" name="矩形 1"/>
          <p:cNvSpPr/>
          <p:nvPr>
            <p:custDataLst>
              <p:tags r:id="rId13"/>
            </p:custDataLst>
          </p:nvPr>
        </p:nvSpPr>
        <p:spPr>
          <a:xfrm>
            <a:off x="809943" y="3973140"/>
            <a:ext cx="2286276" cy="70576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3. </a:t>
            </a:r>
            <a:r>
              <a:rPr lang="zh-CN" altLang="en-US" b="1">
                <a:solidFill>
                  <a:schemeClr val="accent3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智能化工作流</a:t>
            </a:r>
            <a:endParaRPr lang="zh-CN" altLang="en-US" b="1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9" name="矩形 4"/>
          <p:cNvSpPr/>
          <p:nvPr>
            <p:custDataLst>
              <p:tags r:id="rId14"/>
            </p:custDataLst>
          </p:nvPr>
        </p:nvSpPr>
        <p:spPr>
          <a:xfrm>
            <a:off x="173839" y="4712915"/>
            <a:ext cx="2922380" cy="5803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智能理解用户输入意图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，判断是否需要进行RAG和function_call。对于每个特定的工作流分支，设计有效的prompt以达到最佳效果。有效降低算力资源浪费和用户交互体验。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0" name="矩形 10"/>
          <p:cNvSpPr/>
          <p:nvPr>
            <p:custDataLst>
              <p:tags r:id="rId15"/>
            </p:custDataLst>
          </p:nvPr>
        </p:nvSpPr>
        <p:spPr>
          <a:xfrm>
            <a:off x="-5700" y="1246036"/>
            <a:ext cx="3114536" cy="679257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1. </a:t>
            </a:r>
            <a:r>
              <a:rPr lang="zh-CN" altLang="en-US" b="1">
                <a:solidFill>
                  <a:schemeClr val="accent1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拟人化友好交互</a:t>
            </a:r>
            <a:endParaRPr lang="zh-CN" altLang="en-US" b="1">
              <a:solidFill>
                <a:schemeClr val="accent1"/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61" name="矩形 2"/>
          <p:cNvSpPr/>
          <p:nvPr>
            <p:custDataLst>
              <p:tags r:id="rId16"/>
            </p:custDataLst>
          </p:nvPr>
        </p:nvSpPr>
        <p:spPr>
          <a:xfrm>
            <a:off x="34056" y="1952681"/>
            <a:ext cx="3074779" cy="58039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后端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:客服式对话设计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,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增强用户体验;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 algn="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前端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</a:rPr>
              <a:t>:精美快应用和Webapp,符合现代设计规则,上手简单易用.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62" name="矩形 17"/>
          <p:cNvSpPr/>
          <p:nvPr>
            <p:custDataLst>
              <p:tags r:id="rId17"/>
            </p:custDataLst>
          </p:nvPr>
        </p:nvSpPr>
        <p:spPr>
          <a:xfrm>
            <a:off x="9194482" y="4254610"/>
            <a:ext cx="2279650" cy="6991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4"/>
                </a:solidFill>
                <a:latin typeface="+mn-ea"/>
                <a:cs typeface="+mn-ea"/>
                <a:sym typeface="+mn-ea"/>
              </a:rPr>
              <a:t>4. </a:t>
            </a:r>
            <a:r>
              <a:rPr lang="en-US" altLang="en-US" b="1" err="1">
                <a:solidFill>
                  <a:schemeClr val="accent4"/>
                </a:solidFill>
                <a:latin typeface="+mn-ea"/>
                <a:cs typeface="+mn-ea"/>
                <a:sym typeface="+mn-ea"/>
              </a:rPr>
              <a:t>智能风险评估模型</a:t>
            </a:r>
            <a:endParaRPr lang="en-US" altLang="en-US" b="1" err="1">
              <a:solidFill>
                <a:schemeClr val="accent4"/>
              </a:solidFill>
              <a:latin typeface="+mn-ea"/>
              <a:cs typeface="+mn-ea"/>
              <a:sym typeface="+mn-ea"/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en-US" altLang="en-US" b="1">
              <a:solidFill>
                <a:schemeClr val="accent4"/>
              </a:solidFill>
            </a:endParaRPr>
          </a:p>
        </p:txBody>
      </p:sp>
      <p:sp>
        <p:nvSpPr>
          <p:cNvPr id="63" name="矩形 18"/>
          <p:cNvSpPr/>
          <p:nvPr>
            <p:custDataLst>
              <p:tags r:id="rId18"/>
            </p:custDataLst>
          </p:nvPr>
        </p:nvSpPr>
        <p:spPr>
          <a:xfrm>
            <a:off x="9194482" y="4682959"/>
            <a:ext cx="2856119" cy="6068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多维度评分</a:t>
            </a: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:结合价格偏离度、平台可信度等数据判断风险星级。</a:t>
            </a:r>
            <a:endParaRPr 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智能应对建议</a:t>
            </a: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:智能给出应对建议，如"不要转账"、"仔细鉴别"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等</a:t>
            </a: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。</a:t>
            </a:r>
            <a:endParaRPr 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风险鉴别</a:t>
            </a: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:自动标注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 “</a:t>
            </a:r>
            <a:r>
              <a:rPr 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低价诱骗”“虚假宣传”“私下交易” 等具体风险类型</a:t>
            </a:r>
            <a:endParaRPr lang="zh-C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矩形 19"/>
          <p:cNvSpPr/>
          <p:nvPr>
            <p:custDataLst>
              <p:tags r:id="rId19"/>
            </p:custDataLst>
          </p:nvPr>
        </p:nvSpPr>
        <p:spPr>
          <a:xfrm>
            <a:off x="5413693" y="2908935"/>
            <a:ext cx="1417320" cy="870585"/>
          </a:xfrm>
          <a:prstGeom prst="rect">
            <a:avLst/>
          </a:prstGeom>
          <a:noFill/>
          <a:ln>
            <a:noFill/>
          </a:ln>
        </p:spPr>
        <p:txBody>
          <a:bodyPr wrap="square" lIns="90170" tIns="45720" rIns="90170" bIns="4572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创新点</a:t>
            </a:r>
            <a:endParaRPr lang="zh-CN" altLang="en-US" sz="2400" b="1">
              <a:solidFill>
                <a:srgbClr val="FFFFFF"/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65" name="矩形 20"/>
          <p:cNvSpPr/>
          <p:nvPr>
            <p:custDataLst>
              <p:tags r:id="rId20"/>
            </p:custDataLst>
          </p:nvPr>
        </p:nvSpPr>
        <p:spPr>
          <a:xfrm>
            <a:off x="9194482" y="1281678"/>
            <a:ext cx="2279650" cy="69913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2. </a:t>
            </a:r>
            <a:r>
              <a:rPr lang="en-US" altLang="en-US" b="1" err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购物反诈特异化</a:t>
            </a:r>
            <a:endParaRPr lang="en-US" altLang="en-US" b="1">
              <a:solidFill>
                <a:schemeClr val="accent2"/>
              </a:solidFill>
            </a:endParaRPr>
          </a:p>
        </p:txBody>
      </p:sp>
      <p:sp>
        <p:nvSpPr>
          <p:cNvPr id="66" name="矩形 21"/>
          <p:cNvSpPr/>
          <p:nvPr>
            <p:custDataLst>
              <p:tags r:id="rId21"/>
            </p:custDataLst>
          </p:nvPr>
        </p:nvSpPr>
        <p:spPr>
          <a:xfrm>
            <a:off x="9194482" y="2014827"/>
            <a:ext cx="2690467" cy="23959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10000+诈骗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知识库集成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基于诈骗案例库辅助风险判断。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智能调用联网搜索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能够智能识别用户需求，智能调用搜索引擎，增强分析时效性。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特质化查询改写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: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专为购物反诈设计一套查询改写机制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,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+mn-ea"/>
                <a:sym typeface="+mn-ea"/>
              </a:rPr>
              <a:t>提高查询和判断准确性。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+mn-ea"/>
            </a:endParaRPr>
          </a:p>
        </p:txBody>
      </p:sp>
      <p:sp>
        <p:nvSpPr>
          <p:cNvPr id="67" name="椭圆 3"/>
          <p:cNvSpPr/>
          <p:nvPr>
            <p:custDataLst>
              <p:tags r:id="rId22"/>
            </p:custDataLst>
          </p:nvPr>
        </p:nvSpPr>
        <p:spPr>
          <a:xfrm>
            <a:off x="4577398" y="4201160"/>
            <a:ext cx="170180" cy="170180"/>
          </a:xfrm>
          <a:prstGeom prst="ellipse">
            <a:avLst/>
          </a:prstGeom>
          <a:noFill/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68" name="椭圆 5"/>
          <p:cNvSpPr/>
          <p:nvPr>
            <p:custDataLst>
              <p:tags r:id="rId23"/>
            </p:custDataLst>
          </p:nvPr>
        </p:nvSpPr>
        <p:spPr>
          <a:xfrm>
            <a:off x="4624388" y="4248150"/>
            <a:ext cx="75565" cy="755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69" name="椭圆 6"/>
          <p:cNvSpPr/>
          <p:nvPr>
            <p:custDataLst>
              <p:tags r:id="rId24"/>
            </p:custDataLst>
          </p:nvPr>
        </p:nvSpPr>
        <p:spPr>
          <a:xfrm>
            <a:off x="4577398" y="3378835"/>
            <a:ext cx="170180" cy="170180"/>
          </a:xfrm>
          <a:prstGeom prst="ellipse">
            <a:avLst/>
          </a:prstGeom>
          <a:noFill/>
          <a:ln w="31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0" name="椭圆 8"/>
          <p:cNvSpPr/>
          <p:nvPr>
            <p:custDataLst>
              <p:tags r:id="rId25"/>
            </p:custDataLst>
          </p:nvPr>
        </p:nvSpPr>
        <p:spPr>
          <a:xfrm>
            <a:off x="4624388" y="3425825"/>
            <a:ext cx="75565" cy="755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1" name="椭圆 11"/>
          <p:cNvSpPr/>
          <p:nvPr>
            <p:custDataLst>
              <p:tags r:id="rId26"/>
            </p:custDataLst>
          </p:nvPr>
        </p:nvSpPr>
        <p:spPr>
          <a:xfrm>
            <a:off x="7511732" y="4208145"/>
            <a:ext cx="170180" cy="170180"/>
          </a:xfrm>
          <a:prstGeom prst="ellipse">
            <a:avLst/>
          </a:prstGeom>
          <a:noFill/>
          <a:ln w="31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2" name="椭圆 26"/>
          <p:cNvSpPr/>
          <p:nvPr>
            <p:custDataLst>
              <p:tags r:id="rId27"/>
            </p:custDataLst>
          </p:nvPr>
        </p:nvSpPr>
        <p:spPr>
          <a:xfrm>
            <a:off x="7558722" y="4255135"/>
            <a:ext cx="75565" cy="755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3" name="椭圆 36"/>
          <p:cNvSpPr/>
          <p:nvPr>
            <p:custDataLst>
              <p:tags r:id="rId28"/>
            </p:custDataLst>
          </p:nvPr>
        </p:nvSpPr>
        <p:spPr>
          <a:xfrm>
            <a:off x="7511732" y="3378835"/>
            <a:ext cx="170180" cy="170180"/>
          </a:xfrm>
          <a:prstGeom prst="ellipse">
            <a:avLst/>
          </a:prstGeom>
          <a:noFill/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sp>
        <p:nvSpPr>
          <p:cNvPr id="74" name="椭圆 41"/>
          <p:cNvSpPr/>
          <p:nvPr>
            <p:custDataLst>
              <p:tags r:id="rId29"/>
            </p:custDataLst>
          </p:nvPr>
        </p:nvSpPr>
        <p:spPr>
          <a:xfrm>
            <a:off x="7558722" y="3425825"/>
            <a:ext cx="75565" cy="7556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chemeClr val="lt1"/>
              </a:solidFill>
              <a:sym typeface="+mn-ea"/>
            </a:endParaRPr>
          </a:p>
        </p:txBody>
      </p:sp>
      <p:pic>
        <p:nvPicPr>
          <p:cNvPr id="75" name="图片 5" descr="343435383036303b343532343134393bcdb7c4d4b7e7b1a9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327083" y="1854532"/>
            <a:ext cx="216000" cy="216000"/>
          </a:xfrm>
          <a:prstGeom prst="rect">
            <a:avLst/>
          </a:prstGeom>
        </p:spPr>
      </p:pic>
      <p:pic>
        <p:nvPicPr>
          <p:cNvPr id="76" name="图片 12" descr="343439383331313b343532303032383bbfcdbba7b9dcc0ed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679497" y="1874768"/>
            <a:ext cx="216000" cy="216000"/>
          </a:xfrm>
          <a:prstGeom prst="rect">
            <a:avLst/>
          </a:prstGeom>
        </p:spPr>
      </p:pic>
      <p:pic>
        <p:nvPicPr>
          <p:cNvPr id="77" name="图片 19" descr="343435383038363b343532323339393bd6b4d0d0d5aad2aa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331528" y="4601790"/>
            <a:ext cx="208800" cy="208800"/>
          </a:xfrm>
          <a:prstGeom prst="rect">
            <a:avLst/>
          </a:prstGeom>
        </p:spPr>
      </p:pic>
      <p:pic>
        <p:nvPicPr>
          <p:cNvPr id="78" name="图片 15" descr="343439383331313b343532303033313bd3a6d3c3c9ccb3c7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690292" y="4578460"/>
            <a:ext cx="198000" cy="198000"/>
          </a:xfrm>
          <a:prstGeom prst="rect">
            <a:avLst/>
          </a:prstGeom>
        </p:spPr>
      </p:pic>
    </p:spTree>
    <p:custDataLst>
      <p:tags r:id="rId4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 txBox="1"/>
          <p:nvPr/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b="1" spc="23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作品策划</a:t>
            </a:r>
            <a:endParaRPr lang="zh-CN" altLang="en-US" sz="3200" b="1" spc="23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244475" y="1942465"/>
            <a:ext cx="1148080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3200" b="1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策划文档</a:t>
            </a:r>
            <a:r>
              <a:rPr kumimoji="1" lang="en-US" altLang="zh-CN" sz="3200" b="1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: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请见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submission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文件夹中的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Bluelm-Shopguard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作品策划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.docx</a:t>
            </a:r>
            <a:endParaRPr kumimoji="1" lang="en-US" altLang="zh-CN" sz="32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1"/>
          <p:cNvSpPr txBox="1"/>
          <p:nvPr/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作品策划</a:t>
            </a:r>
            <a:endParaRPr lang="zh-CN" altLang="en-US" sz="3200" spc="23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2" name="文本框 2"/>
          <p:cNvSpPr txBox="1"/>
          <p:nvPr/>
        </p:nvSpPr>
        <p:spPr>
          <a:xfrm>
            <a:off x="688975" y="1458595"/>
            <a:ext cx="111499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3200" b="1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产品演示视频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: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请见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submission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文件夹中的</a:t>
            </a:r>
            <a:r>
              <a:rPr kumimoji="1" lang="en-US" altLang="zh-CN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Bluelm-Shopguard.MP4</a:t>
            </a:r>
            <a:endParaRPr kumimoji="1" lang="en-US" altLang="zh-CN" sz="32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kumimoji="1" lang="zh-CN" altLang="en-US" sz="3200" b="1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源代码</a:t>
            </a:r>
            <a:r>
              <a:rPr kumimoji="1" lang="zh-CN" altLang="en-US" sz="32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</a:t>
            </a:r>
            <a:endParaRPr kumimoji="1" lang="zh-CN" altLang="en-US" sz="32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1.</a:t>
            </a:r>
            <a:endParaRPr kumimoji="1" lang="en-US" altLang="zh-CN" sz="24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2.</a:t>
            </a:r>
            <a:r>
              <a:rPr kumimoji="1" lang="zh-CN" altLang="en-US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后端仓库</a:t>
            </a: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:https://github.com/bluelm-shopguard/shopguard-backend.gi</a:t>
            </a: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t</a:t>
            </a:r>
            <a:endParaRPr kumimoji="1" lang="en-US" altLang="zh-CN" sz="24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3.</a:t>
            </a:r>
            <a:r>
              <a:rPr kumimoji="1" lang="zh-CN" altLang="en-US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前端仓库</a:t>
            </a:r>
            <a:r>
              <a:rPr kumimoji="1" lang="en-US" altLang="zh-CN" sz="240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:https://github.com/bluelm-shopguard/shopguard-chatbot.git</a:t>
            </a:r>
            <a:endParaRPr kumimoji="1" lang="en-US" altLang="zh-CN" sz="240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3"/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  <a:endParaRPr kumimoji="1" lang="zh-CN" altLang="en-US" sz="7200">
              <a:solidFill>
                <a:schemeClr val="bg1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136_1*a*1"/>
  <p:tag name="KSO_WM_TEMPLATE_CATEGORY" val="custom"/>
  <p:tag name="KSO_WM_TEMPLATE_INDEX" val="20235136"/>
  <p:tag name="KSO_WM_UNIT_LAYERLEVEL" val="1"/>
  <p:tag name="KSO_WM_TAG_VERSION" val="3.0"/>
  <p:tag name="KSO_WM_BEAUTIFY_FLAG" val="#wm#"/>
  <p:tag name="KSO_WM_UNIT_VALUE" val="29"/>
  <p:tag name="KSO_WM_UNIT_PRESET_TEXT" val="单击此处添加标题"/>
  <p:tag name="KSO_WM_UNIT_TEXT_TYPE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136_1*i*1"/>
  <p:tag name="KSO_WM_TEMPLATE_CATEGORY" val="custom"/>
  <p:tag name="KSO_WM_TEMPLATE_INDEX" val="20235136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c_a"/>
  <p:tag name="KSO_WM_UNIT_INDEX" val="1_1"/>
  <p:tag name="KSO_WM_UNIT_ID" val="custom20235136_1*c_a*1_1"/>
  <p:tag name="KSO_WM_TEMPLATE_CATEGORY" val="custom"/>
  <p:tag name="KSO_WM_TEMPLATE_INDEX" val="20235136"/>
  <p:tag name="KSO_WM_UNIT_LAYERLEVEL" val="1_1"/>
  <p:tag name="KSO_WM_TAG_VERSION" val="3.0"/>
  <p:tag name="KSO_WM_BEAUTIFY_FLAG" val="#wm#"/>
  <p:tag name="KSO_WM_UNIT_VALUE" val="76"/>
  <p:tag name="KSO_WM_UNIT_PRESET_TEXT" val="单击此处添加标题内容"/>
  <p:tag name="KSO_WM_UNIT_TEXT_TYPE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136_1*i*2"/>
  <p:tag name="KSO_WM_TEMPLATE_CATEGORY" val="custom"/>
  <p:tag name="KSO_WM_TEMPLATE_INDEX" val="20235136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136_1*i*3"/>
  <p:tag name="KSO_WM_TEMPLATE_CATEGORY" val="custom"/>
  <p:tag name="KSO_WM_TEMPLATE_INDEX" val="20235136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136_1*i*4"/>
  <p:tag name="KSO_WM_TEMPLATE_CATEGORY" val="custom"/>
  <p:tag name="KSO_WM_TEMPLATE_INDEX" val="20235136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VALUE" val="344"/>
  <p:tag name="KSO_WM_UNIT_HIGHLIGHT" val="0"/>
  <p:tag name="KSO_WM_UNIT_COMPATIBLE" val="0"/>
  <p:tag name="KSO_WM_UNIT_DIAGRAM_ISNUMVISUAL" val="0"/>
  <p:tag name="KSO_WM_UNIT_DIAGRAM_ISREFERUNIT" val="0"/>
  <p:tag name="KSO_WM_UNIT_TYPE" val="c_f"/>
  <p:tag name="KSO_WM_UNIT_INDEX" val="1_1"/>
  <p:tag name="KSO_WM_UNIT_ID" val="custom20235136_1*c_f*1_1"/>
  <p:tag name="KSO_WM_TEMPLATE_CATEGORY" val="custom"/>
  <p:tag name="KSO_WM_TEMPLATE_INDEX" val="20235136"/>
  <p:tag name="KSO_WM_UNIT_LAYERLEVEL" val="1_1"/>
  <p:tag name="KSO_WM_TAG_VERSION" val="3.0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&#10;单击此处添加文本具体内容，简明扼要地阐述您的观点。根据需要可酌情增减文字"/>
  <p:tag name="KSO_WM_UNIT_TEXT_TYPE" val="1"/>
</p:tagLst>
</file>

<file path=ppt/tags/tag8.xml><?xml version="1.0" encoding="utf-8"?>
<p:tagLst xmlns:p="http://schemas.openxmlformats.org/presentationml/2006/main">
  <p:tag name="KSO_WM_SLIDE_ID" val="custom20235136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136"/>
  <p:tag name="KSO_WM_SLIDE_LAYOUT" val="a_c"/>
  <p:tag name="KSO_WM_SLIDE_LAYOUT_CNT" val="1_1"/>
  <p:tag name="KSO_WM_SLIDE_TYPE" val="text"/>
  <p:tag name="KSO_WM_SLIDE_SUBTYPE" val="picTxt"/>
  <p:tag name="KSO_WM_SLIDE_SIZE" val="792.3*271.3"/>
  <p:tag name="KSO_WM_SLIDE_POSITION" val="85.8*192.25"/>
</p:tagLst>
</file>

<file path=ppt/tags/tag9.xml><?xml version="1.0" encoding="utf-8"?>
<p:tagLst xmlns:p="http://schemas.openxmlformats.org/presentationml/2006/main">
  <p:tag name="KSO_WM_UNIT_VALUE" val="1903*174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3618_1*d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  <p:tag name="KSO_WM_UNIT_PICTURE_SUBTYPE" val="b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618_1*a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TEXT_TYPE" val="1"/>
  <p:tag name="KSO_WM_UNIT_PRESET_TEXT" val="单击此处添加&#10;标题内容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3618_1*i*1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0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3618_1*i*2"/>
  <p:tag name="KSO_WM_TEMPLATE_CATEGORY" val="custom"/>
  <p:tag name="KSO_WM_TEMPLATE_INDEX" val="20233618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233618_1*c_a*1_1"/>
  <p:tag name="KSO_WM_TEMPLATE_CATEGORY" val="custom"/>
  <p:tag name="KSO_WM_TEMPLATE_INDEX" val="20233618"/>
  <p:tag name="KSO_WM_UNIT_LAYERLEVEL" val="1_1"/>
  <p:tag name="KSO_WM_TAG_VERSION" val="3.0"/>
  <p:tag name="KSO_WM_DIAGRAM_MAX_ITEMCNT" val="4"/>
  <p:tag name="KSO_WM_DIAGRAM_MIN_ITEMCNT" val="1"/>
  <p:tag name="KSO_WM_DIAGRAM_VIRTUALLY_FRAME" val="{&quot;height&quot;:363.3979874882736,&quot;left&quot;:72.7588188976378,&quot;top&quot;:187.8865007007028,&quot;width&quot;:266.6359842519685}"/>
  <p:tag name="KSO_WM_DIAGRAM_COLOR_MATCH_VALUE" val="{&quot;shape&quot;:{&quot;fill&quot;:{&quot;gradient&quot;:[{&quot;brightness&quot;:0,&quot;colorType&quot;:1,&quot;foreColorIndex&quot;:5,&quot;pos&quot;:0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TYPE" val="c_a"/>
  <p:tag name="KSO_WM_UNIT_INDEX" val="1_1"/>
  <p:tag name="KSO_WM_UNIT_VALUE" val="14"/>
  <p:tag name="KSO_WM_DIAGRAM_VERSION" val="3"/>
  <p:tag name="KSO_WM_DIAGRAM_COLOR_TRICK" val="1"/>
  <p:tag name="KSO_WM_DIAGRAM_COLOR_TEXT_CAN_REMOVE" val="n"/>
  <p:tag name="KSO_WM_UNIT_FILL_TYPE" val="3"/>
  <p:tag name="KSO_WM_UNIT_PRESET_TEXT" val="添加标题"/>
  <p:tag name="KSO_WM_UNIT_SHADOW_SCHEMECOLOR_INDEX_BRIGHTNESS" val="0"/>
  <p:tag name="KSO_WM_UNIT_SHADOW_SCHEMECOLOR_INDEX" val="5"/>
  <p:tag name="KSO_WM_UNIT_USESOURCEFORMAT_APPLY" val="1"/>
  <p:tag name="KSO_WM_BEAUTIFY_FLAG" val="#wm#"/>
</p:tagLst>
</file>

<file path=ppt/tags/tag14.xml><?xml version="1.0" encoding="utf-8"?>
<p:tagLst xmlns:p="http://schemas.openxmlformats.org/presentationml/2006/main">
  <p:tag name="KSO_WM_SLIDE_ID" val="custom2023361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361.9*181.5"/>
  <p:tag name="KSO_WM_SLIDE_POSITION" val="72.75*324.2"/>
  <p:tag name="KSO_WM_TAG_VERSION" val="3.0"/>
  <p:tag name="KSO_WM_BEAUTIFY_FLAG" val="#wm#"/>
  <p:tag name="KSO_WM_TEMPLATE_CATEGORY" val="custom"/>
  <p:tag name="KSO_WM_TEMPLATE_INDEX" val="20233618"/>
  <p:tag name="KSO_WM_SLIDE_LAYOUT" val="a_d_c"/>
  <p:tag name="KSO_WM_SLIDE_LAYOUT_CNT" val="1_1_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805_1*i*1"/>
  <p:tag name="KSO_WM_TEMPLATE_CATEGORY" val="custom"/>
  <p:tag name="KSO_WM_TEMPLATE_INDEX" val="20231805"/>
  <p:tag name="KSO_WM_UNIT_LAYERLEVEL" val="1"/>
  <p:tag name="KSO_WM_TAG_VERSION" val="3.0"/>
  <p:tag name="KSO_WM_BEAUTIFY_FLAG" val="#wm#"/>
  <p:tag name="KSO_WM_UNIT_FILL_FORE_SCHEMECOLOR_INDEX" val="16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1805"/>
  <p:tag name="KSO_WM_UNIT_ID" val="custom20231805_1*a*1"/>
  <p:tag name="KSO_WM_UNIT_TEXT_TYPE" val="1"/>
  <p:tag name="KSO_WM_UNIT_PRESET_TEXT" val="单击&#10;此处添加&#10;页面的标题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i*1_2_1"/>
  <p:tag name="KSO_WM_UNIT_INDEX" val="1_2_1"/>
  <p:tag name="KSO_WM_DIAGRAM_GROUP_CODE" val="n1-1"/>
  <p:tag name="KSO_WM_UNIT_LINE_FORE_SCHEMECOLOR_INDEX" val="5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36"/>
  <p:tag name="KSO_WM_UNIT_TYPE" val="n_h_a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.949999988079071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a*1_1_1"/>
  <p:tag name="KSO_WM_UNIT_INDEX" val="1_1_1"/>
  <p:tag name="KSO_WM_DIAGRAM_GROUP_CODE" val="n1-1"/>
  <p:tag name="KSO_WM_UNIT_PRESET_TEXT" val="添加标题"/>
  <p:tag name="KSO_WM_UNIT_FILL_TYPE" val="3"/>
  <p:tag name="KSO_WM_UNIT_TEXT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500000238418579},&quot;type&quot;:1},&quot;shadow&quot;:{&quot;brightness&quot;:0,&quot;colorType&quot;:1,&quot;foreColorIndex&quot;:13,&quot;transparency&quot;:0.9100000262260437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0963_2*n_h_i*1_1_3"/>
  <p:tag name="KSO_WM_UNIT_INDEX" val="1_1_3"/>
  <p:tag name="KSO_WM_DIAGRAM_GROUP_CODE" val="n1-1"/>
  <p:tag name="KSO_WM_UNIT_LINE_FORE_SCHEMECOLOR_INDEX" val="5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1_1"/>
  <p:tag name="KSO_WM_UNIT_INDEX" val="1_2_1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3_1"/>
  <p:tag name="KSO_WM_UNIT_INDEX" val="1_2_3_1"/>
  <p:tag name="KSO_WM_DIAGRAM_GROUP_CODE" val="n1-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3_2"/>
  <p:tag name="KSO_WM_UNIT_INDEX" val="1_2_3_2"/>
  <p:tag name="KSO_WM_DIAGRAM_GROUP_CODE" val="n1-1"/>
  <p:tag name="KSO_WM_UNIT_FILL_TYPE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2_1"/>
  <p:tag name="KSO_WM_UNIT_INDEX" val="1_2_2_1"/>
  <p:tag name="KSO_WM_DIAGRAM_GROUP_CODE" val="n1-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2_2"/>
  <p:tag name="KSO_WM_UNIT_INDEX" val="1_2_2_2"/>
  <p:tag name="KSO_WM_DIAGRAM_GROUP_CODE" val="n1-1"/>
  <p:tag name="KSO_WM_UNIT_FILL_TYPE" val="3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h_i*1_2_1_1"/>
  <p:tag name="KSO_WM_UNIT_INDEX" val="1_2_1_1"/>
  <p:tag name="KSO_WM_DIAGRAM_GROUP_CODE" val="n1-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i*1_2_1_2"/>
  <p:tag name="KSO_WM_UNIT_INDEX" val="1_2_1_2"/>
  <p:tag name="KSO_WM_DIAGRAM_GROUP_CODE" val="n1-1"/>
  <p:tag name="KSO_WM_UNIT_FILL_TYPE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2,&quot;pos&quot;:1,&quot;rgb&quot;:&quot;#376fff&quot;,&quot;transparency&quot;:1},{&quot;brightness&quot;:0,&quot;colorType&quot;:2,&quot;pos&quot;:0.5,&quot;rgb&quot;:&quot;#ffffff&quot;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0963_2*n_h_i*1_1_4"/>
  <p:tag name="KSO_WM_UNIT_INDEX" val="1_1_4"/>
  <p:tag name="KSO_WM_DIAGRAM_GROUP_CODE" val="n1-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84*72"/>
  <p:tag name="KSO_WM_UNIT_TYPE" val="n_h_h_x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BEAUTIFY_FLAG" val="#wm#"/>
  <p:tag name="KSO_WM_UNIT_ID" val="diagram20230963_2*n_h_h_x*1_2_2_1"/>
  <p:tag name="KSO_WM_UNIT_INDEX" val="1_2_2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VALUE" val="76*78"/>
  <p:tag name="KSO_WM_UNIT_TYPE" val="n_h_h_x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BEAUTIFY_FLAG" val="#wm#"/>
  <p:tag name="KSO_WM_UNIT_ID" val="diagram20230963_2*n_h_h_x*1_2_3_1"/>
  <p:tag name="KSO_WM_UNIT_INDEX" val="1_2_3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9"/>
  <p:tag name="KSO_WM_UNIT_HIGHLIGHT" val="0"/>
  <p:tag name="KSO_WM_UNIT_COMPATIBLE" val="0"/>
  <p:tag name="KSO_WM_UNIT_DIAGRAM_ISNUMVISUAL" val="0"/>
  <p:tag name="KSO_WM_UNIT_DIAGRAM_ISREFERUNIT" val="0"/>
  <p:tag name="KSO_WM_UNIT_TYPE" val="n_h_h_x"/>
  <p:tag name="KSO_WM_TEMPLATE_CATEGORY" val="diagram"/>
  <p:tag name="KSO_WM_TEMPLATE_INDEX" val="20230963"/>
  <p:tag name="KSO_WM_UNIT_LAYERLEVEL" val="1_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UNIT_ID" val="diagram20230963_2*n_h_h_x*1_2_1_1"/>
  <p:tag name="KSO_WM_UNIT_INDEX" val="1_2_1_1"/>
  <p:tag name="KSO_WM_DIAGRAM_GROUP_CODE" val="n1-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3_1"/>
  <p:tag name="KSO_WM_UNIT_INDEX" val="1_2_3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096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h_f*1_2_2_1"/>
  <p:tag name="KSO_WM_UNIT_INDEX" val="1_2_2_1"/>
  <p:tag name="KSO_WM_DIAGRAM_GROUP_CODE" val="n1-1"/>
  <p:tag name="KSO_WM_UNIT_PRESET_TEXT" val="单击此处输入你的项正文，文字是您思想的提炼"/>
  <p:tag name="KSO_WM_UNIT_TEXT_FILL_FORE_SCHEMECOLOR_INDEX" val="1"/>
  <p:tag name="KSO_WM_UNIT_TEXT_FILL_TYPE" val="1"/>
  <p:tag name="KSO_WM_UNIT_TEXT_TYPE" val="1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0963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solid&quot;:{&quot;brightness&quot;:0.800000011920929,&quot;colorType&quot;:1,&quot;foreColorIndex&quot;:5,&quot;transparency&quot;:0.6499999761581421},&quot;type&quot;:1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0963_2*n_h_i*1_1_1"/>
  <p:tag name="KSO_WM_UNIT_INDEX" val="1_1_1"/>
  <p:tag name="KSO_WM_DIAGRAM_GROUP_CODE" val="n1-1"/>
  <p:tag name="KSO_WM_UNIT_FILL_TYPE" val="1"/>
  <p:tag name="KSO_WM_UNIT_FILL_FORE_SCHEMECOLOR_INDEX" val="5"/>
  <p:tag name="KSO_WM_UNIT_FILL_FORE_SCHEMECOLOR_INDEX_BRIGHTNESS" val="0.8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0963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0963_2*n_h_i*1_1_2"/>
  <p:tag name="KSO_WM_UNIT_INDEX" val="1_1_2"/>
  <p:tag name="KSO_WM_DIAGRAM_GROUP_CODE" val="n1-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0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DIAGRAM_MAX_ITEMCNT" val="6"/>
  <p:tag name="KSO_WM_DIAGRAM_MIN_ITEMCNT" val="2"/>
  <p:tag name="KSO_WM_DIAGRAM_VIRTUALLY_FRAME" val="{&quot;height&quot;:382.4,&quot;left&quot;:54.899993896484375,&quot;top&quot;:137.45,&quot;width&quot;:850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500000238418579},&quot;type&quot;:1},&quot;shadow&quot;:{&quot;brightness&quot;:0,&quot;colorType&quot;:1,&quot;foreColorIndex&quot;:13,&quot;transparency&quot;:0.9100000262260437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0963_2*n_h_i*1_1_3"/>
  <p:tag name="KSO_WM_UNIT_INDEX" val="1_1_3"/>
  <p:tag name="KSO_WM_DIAGRAM_GROUP_CODE" val="n1-1"/>
  <p:tag name="KSO_WM_UNIT_LINE_FORE_SCHEMECOLOR_INDEX" val="5"/>
</p:tagLst>
</file>

<file path=ppt/tags/tag3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i*1_1_3"/>
  <p:tag name="KSO_WM_TEMPLATE_CATEGORY" val="diagram"/>
  <p:tag name="KSO_WM_TEMPLATE_INDEX" val="202309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YPE" val="n_h_i"/>
  <p:tag name="KSO_WM_UNIT_INDEX" val="1_1_3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1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3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3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2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3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3_3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3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2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2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a*1_1_1"/>
  <p:tag name="KSO_WM_TEMPLATE_CATEGORY" val="diagram"/>
  <p:tag name="KSO_WM_TEMPLATE_INDEX" val="2023096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0"/>
  <p:tag name="KSO_WM_UNIT_TYPE" val="n_h_a"/>
  <p:tag name="KSO_WM_UNIT_INDEX" val="1_1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&#10;项标题"/>
  <p:tag name="KSO_WM_UNIT_FILL_TYPE" val="3"/>
  <p:tag name="KSO_WM_UNIT_TEXT_TYPE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0961_2*n_h_h_f*1_2_2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</p:tagLst>
</file>

<file path=ppt/tags/tag4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0961_2*n_h_h_f*1_2_3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</p:tagLst>
</file>

<file path=ppt/tags/tag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1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1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3_2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2"/>
  <p:tag name="KSO_WM_UNIT_FILL_TYPE" val="1"/>
  <p:tag name="KSO_WM_UNIT_FILL_FORE_SCHEMECOLOR_INDEX" val="14"/>
  <p:tag name="KSO_WM_UNIT_FILL_FORE_SCHEMECOLOR_INDEX_BRIGHTNESS" val="0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solidLine&quot;:{&quot;brightness&quot;:0.349999994039535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3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x*1_2_1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9"/>
  <p:tag name="KSO_WM_UNIT_TYPE" val="n_h_h_x"/>
  <p:tag name="KSO_WM_UNIT_INDEX" val="1_2_1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</p:tagLst>
</file>

<file path=ppt/tags/tag4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i*1_2_3_1"/>
  <p:tag name="KSO_WM_TEMPLATE_CATEGORY" val="diagram"/>
  <p:tag name="KSO_WM_TEMPLATE_INDEX" val="20230961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gradient&quot;:[{&quot;brightness&quot;:0.4000000059604645,&quot;colorType&quot;:1,&quot;foreColorIndex&quot;:5,&quot;pos&quot;:0,&quot;transparency&quot;:0},{&quot;brightness&quot;:0,&quot;colorType&quot;:1,&quot;foreColorIndex&quot;:5,&quot;pos&quot;:0.7099999785423279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x*1_2_3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2"/>
  <p:tag name="KSO_WM_UNIT_TYPE" val="n_h_h_x"/>
  <p:tag name="KSO_WM_UNIT_INDEX" val="1_2_3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61_2*n_h_h_x*1_2_2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85*72"/>
  <p:tag name="KSO_WM_UNIT_TYPE" val="n_h_h_x"/>
  <p:tag name="KSO_WM_UNIT_INDEX" val="1_2_2_1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4"/>
  <p:tag name="KSO_WM_UNIT_FILL_FORE_SCHEMECOLOR_INDEX_BRIGHTNESS" val="0"/>
</p:tagLst>
</file>

<file path=ppt/tags/tag5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0961_2*n_h_h_f*1_2_1_1"/>
  <p:tag name="KSO_WM_TEMPLATE_CATEGORY" val="diagram"/>
  <p:tag name="KSO_WM_TEMPLATE_INDEX" val="20230961"/>
  <p:tag name="KSO_WM_UNIT_LAYERLEVEL" val="1_1_1_1"/>
  <p:tag name="KSO_WM_TAG_VERSION" val="3.0"/>
  <p:tag name="KSO_WM_BEAUTIFY_FLAG" val="#wm#"/>
  <p:tag name="KSO_WM_UNIT_PLACING_PICTURE_USER_VIEWPORT" val="{&quot;height&quot;:1417,&quot;width&quot;:4423}"/>
  <p:tag name="KSO_WM_DIAGRAM_VERSION" val="3"/>
  <p:tag name="KSO_WM_DIAGRAM_COLOR_TRICK" val="1"/>
  <p:tag name="KSO_WM_DIAGRAM_COLOR_TEXT_CAN_REMOVE" val="n"/>
  <p:tag name="KSO_WM_UNIT_VALUE" val="54"/>
  <p:tag name="KSO_WM_DIAGRAM_MAX_ITEMCNT" val="6"/>
  <p:tag name="KSO_WM_DIAGRAM_MIN_ITEMCNT" val="2"/>
  <p:tag name="KSO_WM_DIAGRAM_VIRTUALLY_FRAME" val="{&quot;height&quot;:424.2932619040941,&quot;left&quot;:59.68796274230499,&quot;top&quot;:117.3,&quot;width&quot;:840.6240745153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 文字是您思想的提炼"/>
  <p:tag name="KSO_WM_UNIT_TEXT_FILL_FORE_SCHEMECOLOR_INDEX" val="1"/>
  <p:tag name="KSO_WM_UNIT_TEXT_FILL_TYPE" val="1"/>
  <p:tag name="KSO_WM_UNIT_TEXT_TYPE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474_1*i*1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474_1*i*2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474_1*i*3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474_1*i*4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474_1*i*5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474_1*f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VALUE" val="78"/>
  <p:tag name="KSO_WM_UNIT_PRESET_TEXT" val="单击此处添加文本具体内容，根据需要可酌情增减文字，以便观者准确地理解您传达的思想。单击此处添加文本具体内容，简明扼要地阐述您的观点。"/>
  <p:tag name="KSO_WM_UNIT_TEXT_TYPE" val="1"/>
</p:tagLst>
</file>

<file path=ppt/tags/tag60.xml><?xml version="1.0" encoding="utf-8"?>
<p:tagLst xmlns:p="http://schemas.openxmlformats.org/presentationml/2006/main">
  <p:tag name="KSO_WM_SLIDE_ID" val="custom2023447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4474"/>
  <p:tag name="KSO_WM_SLIDE_TYPE" val="text"/>
  <p:tag name="KSO_WM_SLIDE_SUBTYPE" val="picTxt"/>
  <p:tag name="KSO_WM_SLIDE_SIZE" val="882*444"/>
  <p:tag name="KSO_WM_SLIDE_POSITION" val="48*47"/>
  <p:tag name="KSO_WM_SLIDE_LAYOUT" val="a_f_β"/>
  <p:tag name="KSO_WM_SLIDE_LAYOUT_CNT" val="1_1_1"/>
  <p:tag name="KSO_WM_SPECIAL_SOURCE" val="bdnull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5161_3*a*1"/>
  <p:tag name="KSO_WM_TEMPLATE_CATEGORY" val="diagram"/>
  <p:tag name="KSO_WM_TEMPLATE_INDEX" val="20235161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161_1*l_h_i*1_1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gradient&quot;:[{&quot;brightness&quot;:0.4000000059604645,&quot;colorType&quot;:1,&quot;foreColorIndex&quot;:5,&quot;pos&quot;:0,&quot;transparency&quot;:0.23999999463558197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161_1*l_h_f*1_1_1"/>
  <p:tag name="KSO_WM_TEMPLATE_CATEGORY" val="diagram"/>
  <p:tag name="KSO_WM_TEMPLATE_INDEX" val="2023516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5161_1*l_h_i*1_2_2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LINE_FORE_SCHEMECOLOR_INDEX" val="6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ILL_TYPE" val="2"/>
  <p:tag name="KSO_WM_UNIT_USESOURCEFORMAT_APPLY" val="1"/>
</p:tagLst>
</file>

<file path=ppt/tags/tag6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161_1*l_h_f*1_2_1"/>
  <p:tag name="KSO_WM_TEMPLATE_CATEGORY" val="diagram"/>
  <p:tag name="KSO_WM_TEMPLATE_INDEX" val="20235161"/>
  <p:tag name="KSO_WM_UNIT_LAYERLEVEL" val="1_1_1"/>
  <p:tag name="KSO_WM_TAG_VERSION" val="3.0"/>
  <p:tag name="KSO_WM_UNIT_TEXT_FILL_FORE_SCHEMECOLOR_INDEX_BRIGHTNESS" val="0.15"/>
  <p:tag name="KSO_WM_DIAGRAM_GROUP_CODE" val="l1-1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161_1*l_h_i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gradient&quot;:[{&quot;brightness&quot;:0.4000000059604645,&quot;colorType&quot;:1,&quot;foreColorIndex&quot;:5,&quot;pos&quot;:0,&quot;transparency&quot;:0.23999999463558197},{&quot;brightness&quot;:0,&quot;colorType&quot;:1,&quot;foreColorIndex&quot;:5,&quot;pos&quot;:1,&quot;transparency&quot;:0}],&quot;type&quot;:3},&quot;glow&quot;:{&quot;colorType&quot;:0},&quot;line&quot;:{&quot;type&quot;:0},&quot;shadow&quot;:{&quot;brightness&quot;:-0.25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UNIT_VALUE" val="88*8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5161_1*l_h_x*1_1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68.xml><?xml version="1.0" encoding="utf-8"?>
<p:tagLst xmlns:p="http://schemas.openxmlformats.org/presentationml/2006/main">
  <p:tag name="KSO_WM_UNIT_VALUE" val="87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5161_1*l_h_x*1_2_1"/>
  <p:tag name="KSO_WM_TEMPLATE_CATEGORY" val="diagram"/>
  <p:tag name="KSO_WM_TEMPLATE_INDEX" val="2023516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56.60425392677206,&quot;left&quot;:54.8,&quot;top&quot;:145.07287303661397,&quot;width&quot;:850.4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69.xml><?xml version="1.0" encoding="utf-8"?>
<p:tagLst xmlns:p="http://schemas.openxmlformats.org/presentationml/2006/main">
  <p:tag name="KSO_WM_SLIDE_ID" val="diagram20235161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5161"/>
  <p:tag name="KSO_WM_SLIDE_TYPE" val="text"/>
  <p:tag name="KSO_WM_SLIDE_SUBTYPE" val="diag"/>
  <p:tag name="KSO_WM_SLIDE_SIZE" val="850.35*389"/>
  <p:tag name="KSO_WM_SLIDE_POSITION" val="54.8*112.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0.xml><?xml version="1.0" encoding="utf-8"?>
<p:tagLst xmlns:p="http://schemas.openxmlformats.org/presentationml/2006/main">
  <p:tag name="KSO_WM_BEAUTIFY_FLAG" val="#wm#"/>
  <p:tag name="KSO_WM_TEMPLATE_CATEGORY" val="diagram"/>
  <p:tag name="KSO_WM_TEMPLATE_INDEX" val="2023516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TEMPLATE_CATEGORY" val="diagram"/>
  <p:tag name="KSO_WM_TEMPLATE_INDEX" val="20231451"/>
  <p:tag name="KSO_WM_UNIT_LAYERLEVEL" val="1"/>
  <p:tag name="KSO_WM_TAG_VERSION" val="3.0"/>
  <p:tag name="KSO_WM_BEAUTIFY_FLAG" val="#wm#"/>
  <p:tag name="KSO_WM_UNIT_TEXT_TYPE" val="1"/>
  <p:tag name="KSO_WM_DIAGRAM_GROUP_CODE" val="n1-1"/>
  <p:tag name="KSO_WM_UNIT_ID" val="diagram20231451_3*a*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1451_1*n_h_i*1_2_1"/>
  <p:tag name="KSO_WM_TEMPLATE_CATEGORY" val="diagram"/>
  <p:tag name="KSO_WM_TEMPLATE_INDEX" val="202314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33000001311302185,&quot;transparency&quot;:1},{&quot;brightness&quot;:0,&quot;colorType&quot;:1,&quot;foreColorIndex&quot;:5,&quot;pos&quot;:1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1451_1*n_h_i*1_1_1"/>
  <p:tag name="KSO_WM_TEMPLATE_CATEGORY" val="diagram"/>
  <p:tag name="KSO_WM_TEMPLATE_INDEX" val="202314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gradient&quot;:[{&quot;brightness&quot;:0.4000000059604645,&quot;colorType&quot;:1,&quot;foreColorIndex&quot;:5,&quot;pos&quot;:0.18000000715255737,&quot;transparency&quot;:1},{&quot;brightness&quot;:0.20000000298023224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1451_1*n_h_a*1_1_1"/>
  <p:tag name="KSO_WM_TEMPLATE_CATEGORY" val="diagram"/>
  <p:tag name="KSO_WM_TEMPLATE_INDEX" val="202314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编辑添加项目标题"/>
  <p:tag name="KSO_WM_UNIT_FILL_TYPE" val="3"/>
  <p:tag name="KSO_WM_UNIT_TEXT_TYPE" val="1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gradient&quot;:[{&quot;brightness&quot;:0.15000000596046448,&quot;colorType&quot;:1,&quot;foreColorIndex&quot;:5,&quot;pos&quot;:0,&quot;transparency&quot;:0},{&quot;brightness&quot;:-0.15000000596046448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1451_1*n_h_h_i*1_2_1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1451_1*n_h_h_i*1_2_1_2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gradient&quot;:[{&quot;brightness&quot;:0,&quot;colorType&quot;:2,&quot;pos&quot;:0.9599999785423279,&quot;rgb&quot;:&quot;#ffffff&quot;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1"/>
  <p:tag name="KSO_WM_UNIT_ID" val="diagram20231451_1*n_h_h_a*1_2_1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正文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78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1451_1*n_h_h_f*1_2_1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，请言简的阐述观点。根据需要可酌情增减文字，以便观者可以准确理解您所传达的信息。单击此处输入正文，文字是您思想的提炼，为了最终演示发布的良好效果，请尽量言简意赅的阐述观点，根据需要可酌情增减文字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25},{&quot;brightness&quot;:0,&quot;colorType&quot;:1,&quot;foreColorIndex&quot;:5,&quot;pos&quot;:1,&quot;transparency&quot;:0.8399999737739563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1451_1*n_h_h_i*1_2_2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FILL_TYPE" val="3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gradient&quot;:[{&quot;brightness&quot;:0,&quot;colorType&quot;:1,&quot;foreColorIndex&quot;:5,&quot;pos&quot;:0,&quot;transparency&quot;:0},{&quot;brightness&quot;:-0.25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2"/>
  <p:tag name="KSO_WM_UNIT_ID" val="diagram20231451_1*n_h_h_i*1_2_2_2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gradient&quot;:[{&quot;brightness&quot;:0,&quot;colorType&quot;:2,&quot;pos&quot;:0.9599999785423279,&quot;rgb&quot;:&quot;#ffffff&quot;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USESOURCEFORMAT_APPLY" val="1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2_1"/>
  <p:tag name="KSO_WM_UNIT_ID" val="diagram20231451_1*n_h_h_a*1_2_2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此处添加正文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2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1451_1*n_h_h_f*1_2_2_1"/>
  <p:tag name="KSO_WM_TEMPLATE_CATEGORY" val="diagram"/>
  <p:tag name="KSO_WM_TEMPLATE_INDEX" val="20231451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单击添加正文，文字是您思想的提炼，为了最终演示发布的良好效果，请言简意赅的阐述观点。根据需要可酌情增减文字，以便观者可以准确理解您所传达的信息。单击此处输入正文，文字是您思想的提炼，为了最终演示发布的良好效果，请尽量言简意赅的阐述观点。"/>
  <p:tag name="KSO_WM_UNIT_TEXT_FILL_FORE_SCHEMECOLOR_INDEX" val="1"/>
  <p:tag name="KSO_WM_UNIT_TEXT_FILL_TYPE" val="1"/>
  <p:tag name="KSO_WM_UNIT_TEXT_TYPE" val="1"/>
  <p:tag name="KSO_WM_DIAGRAM_MAX_ITEMCNT" val="4"/>
  <p:tag name="KSO_WM_DIAGRAM_MIN_ITEMCNT" val="2"/>
  <p:tag name="KSO_WM_DIAGRAM_VIRTUALLY_FRAME" val="{&quot;height&quot;:360.9000040873649,&quot;left&quot;:47.44999999999999,&quot;top&quot;:132.19999795631753,&quot;width&quot;:864.6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25},{&quot;brightness&quot;:0,&quot;colorType&quot;:1,&quot;foreColorIndex&quot;:5,&quot;pos&quot;:1,&quot;transparency&quot;:0.8399999737739563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USESOURCEFORMAT_APPLY" val="1"/>
</p:tagLst>
</file>

<file path=ppt/tags/tag83.xml><?xml version="1.0" encoding="utf-8"?>
<p:tagLst xmlns:p="http://schemas.openxmlformats.org/presentationml/2006/main">
  <p:tag name="KSO_WM_TEMPLATE_SUBCATEGORY" val="0"/>
  <p:tag name="KSO_WM_TEMPLATE_MASTER_TYPE" val="0"/>
  <p:tag name="KSO_WM_TEMPLATE_COLOR_TYPE" val="0"/>
  <p:tag name="KSO_WM_TAG_VERSION" val="3.0"/>
  <p:tag name="KSO_WM_BEAUTIFY_FLAG" val="#wm#"/>
  <p:tag name="KSO_WM_TEMPLATE_CATEGORY" val="diagram"/>
  <p:tag name="KSO_WM_TEMPLATE_INDEX" val="20231451"/>
  <p:tag name="KSO_WM_SLIDE_TYPE" val="text"/>
  <p:tag name="KSO_WM_SLIDE_SUBTYPE" val="diag"/>
  <p:tag name="KSO_WM_SLIDE_LAYOUT" val="a_n"/>
  <p:tag name="KSO_WM_SLIDE_LAYOUT_CNT" val="1_1"/>
  <p:tag name="KSO_WM_SPECIAL_SOURCE" val="bdnull"/>
  <p:tag name="KSO_WM_SLIDE_DIAGTYPE" val="n"/>
  <p:tag name="KSO_WM_SLIDE_ID" val="diagram20231451_3"/>
  <p:tag name="KSO_WM_SLIDE_ITEM_CNT" val="4"/>
  <p:tag name="KSO_WM_SLIDE_INDEX" val="3"/>
  <p:tag name="KSO_WM_SLIDE_SIZE" val="864.6*325.9"/>
  <p:tag name="KSO_WM_SLIDE_POSITION" val="47.45*167.2"/>
  <p:tag name="KSO_WM_DIAGRAM_GROUP_CODE" val="n1-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474_1*i*1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474_1*i*2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4474_1*i*3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4474_1*i*4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4474_1*i*5"/>
  <p:tag name="KSO_WM_TEMPLATE_CATEGORY" val="custom"/>
  <p:tag name="KSO_WM_TEMPLATE_INDEX" val="20234474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4474_1*f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VALUE" val="78"/>
  <p:tag name="KSO_WM_UNIT_PRESET_TEXT" val="单击此处添加文本具体内容，根据需要可酌情增减文字，以便观者准确地理解您传达的思想。单击此处添加文本具体内容，简明扼要地阐述您的观点。"/>
  <p:tag name="KSO_WM_UNIT_TEXT_TYPE" val="1"/>
</p:tagLst>
</file>

<file path=ppt/tags/tag91.xml><?xml version="1.0" encoding="utf-8"?>
<p:tagLst xmlns:p="http://schemas.openxmlformats.org/presentationml/2006/main">
  <p:tag name="KSO_WM_SLIDE_ID" val="custom20234474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4474"/>
  <p:tag name="KSO_WM_SLIDE_TYPE" val="text"/>
  <p:tag name="KSO_WM_SLIDE_SUBTYPE" val="picTxt"/>
  <p:tag name="KSO_WM_SLIDE_SIZE" val="882*444"/>
  <p:tag name="KSO_WM_SLIDE_POSITION" val="48*47"/>
  <p:tag name="KSO_WM_SLIDE_LAYOUT" val="a_f_β"/>
  <p:tag name="KSO_WM_SLIDE_LAYOUT_CNT" val="1_1_1"/>
  <p:tag name="KSO_WM_SPECIAL_SOURCE" val="bdnull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141_1*a*1"/>
  <p:tag name="KSO_WM_TEMPLATE_CATEGORY" val="custom"/>
  <p:tag name="KSO_WM_TEMPLATE_INDEX" val="20235141"/>
  <p:tag name="KSO_WM_UNIT_LAYERLEVEL" val="1"/>
  <p:tag name="KSO_WM_TAG_VERSION" val="3.0"/>
  <p:tag name="KSO_WM_BEAUTIFY_FLAG" val="#wm#"/>
  <p:tag name="KSO_WM_UNIT_PRESET_TEXT" val="单击此处添加文档标题内容"/>
  <p:tag name="KSO_WM_UNIT_TEXT_TYPE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141_1*i*1"/>
  <p:tag name="KSO_WM_TEMPLATE_CATEGORY" val="custom"/>
  <p:tag name="KSO_WM_TEMPLATE_INDEX" val="2023514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141_1*i*2"/>
  <p:tag name="KSO_WM_TEMPLATE_CATEGORY" val="custom"/>
  <p:tag name="KSO_WM_TEMPLATE_INDEX" val="2023514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5141_1*i*3"/>
  <p:tag name="KSO_WM_TEMPLATE_CATEGORY" val="custom"/>
  <p:tag name="KSO_WM_TEMPLATE_INDEX" val="2023514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5141_1*c_f*1_1"/>
  <p:tag name="KSO_WM_TEMPLATE_CATEGORY" val="custom"/>
  <p:tag name="KSO_WM_TEMPLATE_INDEX" val="20235141"/>
  <p:tag name="KSO_WM_UNIT_LAYERLEVEL" val="1_1"/>
  <p:tag name="KSO_WM_TAG_VERSION" val="3.0"/>
  <p:tag name="KSO_WM_UNIT_SUBTYPE" val="a"/>
  <p:tag name="KSO_WM_UNIT_NOCLEAR" val="0"/>
  <p:tag name="KSO_WM_UNIT_VALUE" val="36"/>
  <p:tag name="KSO_WM_UNIT_TYPE" val="c_f"/>
  <p:tag name="KSO_WM_UNIT_INDEX" val="1_1"/>
  <p:tag name="KSO_WM_DIAGRAM_VERSION" val="3"/>
  <p:tag name="KSO_WM_DIAGRAM_COLOR_TRICK" val="1"/>
  <p:tag name="KSO_WM_DIAGRAM_COLOR_TEXT_CAN_REMOVE" val="n"/>
  <p:tag name="KSO_WM_DIAGRAM_MAX_ITEMCNT" val="4"/>
  <p:tag name="KSO_WM_DIAGRAM_MIN_ITEMCNT" val="1"/>
  <p:tag name="KSO_WM_DIAGRAM_VIRTUALLY_FRAME" val="{&quot;height&quot;:335.95001220703125,&quot;left&quot;:60.61255768062565,&quot;top&quot;:141.03208051065758,&quot;width&quot;:343.7749633789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2"/>
  <p:tag name="KSO_WM_BEAUTIFY_FLAG" val="#wm#"/>
  <p:tag name="KSO_WM_UNIT_PRESET_TEXT" val="单击此处添加文本具体内容，简明扼要地阐述您的观点。根据需要可酌情增减文字以便观者准确地理解您传达的思想。单击此处添加文本具体内容，简明扼要地阐述您的观点。根据需要可酌情增减文字。根据需要可酌情增减文字以便观者准确地理解您传达的思想。&#10;单击此处添加文本具体内容，简明扼要地阐述您的观点。根据需要可酌情增减文字以便观者准确地理解您传达的思想。&#10;单击此处添加文本具体内容，简明扼要地阐述您的观点。&#10;根据需要可酌情增减文字。根据需要可酌情增减文字以便观者准确地理解您传达的思想。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5141_1*i*4"/>
  <p:tag name="KSO_WM_TEMPLATE_CATEGORY" val="custom"/>
  <p:tag name="KSO_WM_TEMPLATE_INDEX" val="2023514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custom20235141_1*i*5"/>
  <p:tag name="KSO_WM_TEMPLATE_CATEGORY" val="custom"/>
  <p:tag name="KSO_WM_TEMPLATE_INDEX" val="2023514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c_a"/>
  <p:tag name="KSO_WM_UNIT_INDEX" val="1_1"/>
  <p:tag name="KSO_WM_UNIT_ID" val="custom20235141_1*c_a*1_1"/>
  <p:tag name="KSO_WM_TEMPLATE_CATEGORY" val="custom"/>
  <p:tag name="KSO_WM_TEMPLATE_INDEX" val="20235141"/>
  <p:tag name="KSO_WM_UNIT_LAYERLEVEL" val="1_1"/>
  <p:tag name="KSO_WM_TAG_VERSION" val="3.0"/>
  <p:tag name="KSO_WM_BEAUTIFY_FLAG" val="#wm#"/>
  <p:tag name="KSO_WM_UNIT_ISCONTENTSTITLE" val="0"/>
  <p:tag name="KSO_WM_UNIT_ISNUMDGMTITLE" val="0"/>
  <p:tag name="KSO_WM_UNIT_PRESET_TEXT" val="单击此处添加文档标题内容"/>
  <p:tag name="KSO_WM_UNIT_NOCLEAR" val="0"/>
  <p:tag name="KSO_WM_UNIT_VALUE" val="35"/>
  <p:tag name="KSO_WM_UNIT_TEXT_TYPE" val="1"/>
</p:tagLst>
</file>

<file path=ppt/tags/tag100.xml><?xml version="1.0" encoding="utf-8"?>
<p:tagLst xmlns:p="http://schemas.openxmlformats.org/presentationml/2006/main">
  <p:tag name="KSO_WM_SLIDE_ID" val="custom20235141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5141"/>
  <p:tag name="KSO_WM_SLIDE_TYPE" val="text"/>
  <p:tag name="KSO_WM_SLIDE_SUBTYPE" val="picTxt"/>
  <p:tag name="KSO_WM_SLIDE_SIZE" val="786.85*239.3"/>
  <p:tag name="KSO_WM_SLIDE_POSITION" val="85.85*193.85"/>
  <p:tag name="KSO_WM_SLIDE_LAYOUT" val="a_c"/>
  <p:tag name="KSO_WM_SLIDE_LAYOUT_CNT" val="1_1"/>
  <p:tag name="KSO_WM_SPECIAL_SOURCE" val="bdnull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49_1*a*1"/>
  <p:tag name="KSO_WM_TEMPLATE_CATEGORY" val="diagram"/>
  <p:tag name="KSO_WM_TEMPLATE_INDEX" val="20233249"/>
  <p:tag name="KSO_WM_UNIT_LAYERLEVEL" val="1"/>
  <p:tag name="KSO_WM_TAG_VERSION" val="3.0"/>
  <p:tag name="KSO_WM_BEAUTIFY_FLAG" val="#wm#"/>
  <p:tag name="KSO_WM_DIAGRAM_GROUP_CODE" val="l1-1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3249_1*l_h_i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3249_1*l_h_i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05000000074505806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3249_1*l_h_f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USESOURCEFORMAT_APPLY" val="1"/>
</p:tagLst>
</file>

<file path=ppt/tags/tag10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3249_1*l_h_f*1_2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TYPE" val="1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根据需要可酌情增减文字，以便观者准确地理解您传达的思想。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201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3249_1*l_h_x*1_1_1"/>
  <p:tag name="KSO_WM_TEMPLATE_CATEGORY" val="diagram"/>
  <p:tag name="KSO_WM_TEMPLATE_INDEX" val="20233249"/>
  <p:tag name="KSO_WM_UNIT_LAYERLEVEL" val="1_1_1"/>
  <p:tag name="KSO_WM_TAG_VERSION" val="3.0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3249_1*l_h_a*1_1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TEXT_FILL_TYPE" val="1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TYPE" val="1"/>
  <p:tag name="KSO_WM_UNIT_USESOURCEFORMAT_APPLY" val="1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3249_1*l_h_a*1_2_1"/>
  <p:tag name="KSO_WM_TEMPLATE_CATEGORY" val="diagram"/>
  <p:tag name="KSO_WM_TEMPLATE_INDEX" val="20233249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添加标题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0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88*18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49_1*l_h_x*1_2_1"/>
  <p:tag name="KSO_WM_TEMPLATE_CATEGORY" val="diagram"/>
  <p:tag name="KSO_WM_TEMPLATE_INDEX" val="20233249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90.82487576932465,&quot;left&quot;:45,&quot;top&quot;:103.37512423067537,&quot;width&quot;:854.243385826771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110.xml><?xml version="1.0" encoding="utf-8"?>
<p:tagLst xmlns:p="http://schemas.openxmlformats.org/presentationml/2006/main">
  <p:tag name="KSO_WM_SLIDE_ID" val="diagram20233249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3249"/>
  <p:tag name="KSO_WM_SLIDE_TYPE" val="text"/>
  <p:tag name="KSO_WM_SLIDE_SUBTYPE" val="diag"/>
  <p:tag name="KSO_WM_SLIDE_SIZE" val="844.438*388.54"/>
  <p:tag name="KSO_WM_SLIDE_POSITION" val="54.8032*105.62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3203_3*a*1"/>
  <p:tag name="KSO_WM_TEMPLATE_CATEGORY" val="diagram"/>
  <p:tag name="KSO_WM_TEMPLATE_INDEX" val="20233203"/>
  <p:tag name="KSO_WM_UNIT_LAYERLEVEL" val="1"/>
  <p:tag name="KSO_WM_TAG_VERSION" val="3.0"/>
  <p:tag name="KSO_WM_BEAUTIFY_FLAG" val="#wm#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3203_3*l_h_i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3203_3*l_h_i*1_1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4_1"/>
  <p:tag name="KSO_WM_UNIT_ID" val="diagram20233203_3*l_h_i*1_4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3203_3*l_h_i*1_3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VALUE" val="14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3203_3*l_h_f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3_3*l_h_a*1_2_1"/>
  <p:tag name="KSO_WM_TEMPLATE_CATEGORY" val="diagram"/>
  <p:tag name="KSO_WM_TEMPLATE_INDEX" val="20233203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3203_3*l_h_f*1_4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40"/>
  <p:tag name="KSO_WM_BEAUTIFY_FLAG" val="#wm#"/>
  <p:tag name="KSO_WM_UNIT_PRESET_TEXT" val="单击此处添加正文，文字是您思想的提炼，请言简意赅的阐述您的观点。单击添加正文，文字是您思想的提炼。单击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203_3*l_h_a*1_4_1"/>
  <p:tag name="KSO_WM_TEMPLATE_CATEGORY" val="diagram"/>
  <p:tag name="KSO_WM_TEMPLATE_INDEX" val="20233203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VALUE" val="14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3203_3*l_h_f*1_1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请单击此处添加正文内容，文字是您思想的提炼，请言简意赅的阐述您的观点。单击此处添加正文，文字是您思想的提炼。单击此处添加正文，文字是您思想的提炼，请言简意赅的阐述您的观点。单击此处添加正文，文字是您思想的提炼。单击此处添加正文内容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3_3*l_h_a*1_1_1"/>
  <p:tag name="KSO_WM_TEMPLATE_CATEGORY" val="diagram"/>
  <p:tag name="KSO_WM_TEMPLATE_INDEX" val="20233203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UNIT_VALUE" val="14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3203_3*l_h_f*1_3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添加正文，文字是您思想的提炼，请言简意赅的阐述您的观点。单击添加正文，文字是您思想的提炼。单击添加正文，文字是您思想的提炼，请言简意赅的阐述您的观点。单击此处添加正文，文字是您思想的提炼。单击此处添加正文，文字是您思想的提炼，请言简意赅的阐述您的观点"/>
  <p:tag name="KSO_WM_UNIT_TEXT_FILL_FORE_SCHEMECOLOR_INDEX" val="1"/>
  <p:tag name="KSO_WM_UNIT_TEXT_FILL_TYPE" val="1"/>
  <p:tag name="KSO_WM_UNIT_USESOURCEFORMAT_APPLY" val="1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3_3*l_h_a*1_3_1"/>
  <p:tag name="KSO_WM_TEMPLATE_CATEGORY" val="diagram"/>
  <p:tag name="KSO_WM_TEMPLATE_INDEX" val="20233203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项标题"/>
  <p:tag name="KSO_WM_UNIT_TEXT_FILL_FORE_SCHEMECOLOR_INDEX" val="1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UNIT_VALUE" val="108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2_1"/>
  <p:tag name="KSO_WM_UNIT_ID" val="diagram20233203_3*l_h_x*1_2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125.xml><?xml version="1.0" encoding="utf-8"?>
<p:tagLst xmlns:p="http://schemas.openxmlformats.org/presentationml/2006/main">
  <p:tag name="KSO_WM_UNIT_VALUE" val="100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4_1"/>
  <p:tag name="KSO_WM_UNIT_ID" val="diagram20233203_3*l_h_x*1_4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126.xml><?xml version="1.0" encoding="utf-8"?>
<p:tagLst xmlns:p="http://schemas.openxmlformats.org/presentationml/2006/main">
  <p:tag name="KSO_WM_UNIT_VALUE" val="108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3_1"/>
  <p:tag name="KSO_WM_UNIT_ID" val="diagram20233203_3*l_h_x*1_3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127.xml><?xml version="1.0" encoding="utf-8"?>
<p:tagLst xmlns:p="http://schemas.openxmlformats.org/presentationml/2006/main">
  <p:tag name="KSO_WM_UNIT_VALUE" val="100*108"/>
  <p:tag name="KSO_WM_UNIT_HIGHLIGHT" val="0"/>
  <p:tag name="KSO_WM_UNIT_COMPATIBLE" val="0"/>
  <p:tag name="KSO_WM_UNIT_DIAGRAM_ISNUMVISUAL" val="0"/>
  <p:tag name="KSO_WM_UNIT_DIAGRAM_ISREFERUNIT" val="0"/>
  <p:tag name="KSO_WM_UNIT_TYPE" val="l_h_x"/>
  <p:tag name="KSO_WM_UNIT_INDEX" val="1_1_1"/>
  <p:tag name="KSO_WM_UNIT_ID" val="diagram20233203_3*l_h_x*1_1_1"/>
  <p:tag name="KSO_WM_TEMPLATE_CATEGORY" val="diagram"/>
  <p:tag name="KSO_WM_TEMPLATE_INDEX" val="2023320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DIAGRAM_MAX_ITEMCNT" val="4"/>
  <p:tag name="KSO_WM_DIAGRAM_MIN_ITEMCNT" val="2"/>
  <p:tag name="KSO_WM_DIAGRAM_VIRTUALLY_FRAME" val="{&quot;height&quot;:373.32769517649393,&quot;left&quot;:62.14999999999998,&quot;top&quot;:118.36115241175301,&quot;width&quot;:835.5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USESOURCEFORMAT_APPLY" val="1"/>
</p:tagLst>
</file>

<file path=ppt/tags/tag128.xml><?xml version="1.0" encoding="utf-8"?>
<p:tagLst xmlns:p="http://schemas.openxmlformats.org/presentationml/2006/main">
  <p:tag name="KSO_WM_SLIDE_ID" val="diagram20233203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3203"/>
  <p:tag name="KSO_WM_SLIDE_TYPE" val="text"/>
  <p:tag name="KSO_WM_SLIDE_SUBTYPE" val="diag"/>
  <p:tag name="KSO_WM_SLIDE_SIZE" val="835.55*339.3"/>
  <p:tag name="KSO_WM_SLIDE_POSITION" val="62.15*153.4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088_1*i*1"/>
  <p:tag name="KSO_WM_TEMPLATE_CATEGORY" val="custom"/>
  <p:tag name="KSO_WM_TEMPLATE_INDEX" val="20235088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88_1*a*1"/>
  <p:tag name="KSO_WM_TEMPLATE_CATEGORY" val="custom"/>
  <p:tag name="KSO_WM_TEMPLATE_INDEX" val="20235088"/>
  <p:tag name="KSO_WM_UNIT_LAYERLEVEL" val="1"/>
  <p:tag name="KSO_WM_TAG_VERSION" val="3.0"/>
  <p:tag name="KSO_WM_BEAUTIFY_FLAG" val="#wm#"/>
  <p:tag name="KSO_WM_UNIT_TEXT_TYPE" val="1"/>
  <p:tag name="KSO_WM_UNIT_PRESET_TEXT" val="单击此处编辑添加标题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088_1*i*2"/>
  <p:tag name="KSO_WM_TEMPLATE_CATEGORY" val="custom"/>
  <p:tag name="KSO_WM_TEMPLATE_INDEX" val="20235088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diagram"/>
  <p:tag name="KSO_WM_TEMPLATE_INDEX" val="2023320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1_1*i*1"/>
  <p:tag name="KSO_WM_TEMPLATE_CATEGORY" val="custom"/>
  <p:tag name="KSO_WM_TEMPLATE_INDEX" val="2023563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1_1*i*2"/>
  <p:tag name="KSO_WM_TEMPLATE_CATEGORY" val="custom"/>
  <p:tag name="KSO_WM_TEMPLATE_INDEX" val="2023563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1_1*a*1"/>
  <p:tag name="KSO_WM_TEMPLATE_CATEGORY" val="custom"/>
  <p:tag name="KSO_WM_TEMPLATE_INDEX" val="20235631"/>
  <p:tag name="KSO_WM_UNIT_LAYERLEVEL" val="1"/>
  <p:tag name="KSO_WM_TAG_VERSION" val="3.0"/>
  <p:tag name="KSO_WM_BEAUTIFY_FLAG" val="#wm#"/>
  <p:tag name="KSO_WM_UNIT_PRESET_TEXT" val="单击此处添加标题"/>
  <p:tag name="KSO_WM_UNIT_TEXT_TYPE" val="1"/>
</p:tagLst>
</file>

<file path=ppt/tags/tag136.xml><?xml version="1.0" encoding="utf-8"?>
<p:tagLst xmlns:p="http://schemas.openxmlformats.org/presentationml/2006/main">
  <p:tag name="KSO_WM_SLIDE_ID" val="custom20235631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95*462"/>
  <p:tag name="KSO_WM_SLIDE_POSITION" val="32*38"/>
  <p:tag name="KSO_WM_TAG_VERSION" val="3.0"/>
  <p:tag name="KSO_WM_BEAUTIFY_FLAG" val="#wm#"/>
  <p:tag name="KSO_WM_TEMPLATE_CATEGORY" val="custom"/>
  <p:tag name="KSO_WM_TEMPLATE_INDEX" val="20235631"/>
  <p:tag name="KSO_WM_SLIDE_LAYOUT" val="a_f"/>
  <p:tag name="KSO_WM_SLIDE_LAYOUT_CNT" val="1_1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1081_5*a*1"/>
  <p:tag name="KSO_WM_TEMPLATE_CATEGORY" val="diagram"/>
  <p:tag name="KSO_WM_TEMPLATE_INDEX" val="20231081"/>
  <p:tag name="KSO_WM_UNIT_LAYERLEVEL" val="1"/>
  <p:tag name="KSO_WM_TAG_VERSION" val="3.0"/>
  <p:tag name="KSO_WM_BEAUTIFY_FLAG" val="#wm#"/>
  <p:tag name="KSO_WM_DIAGRAM_GROUP_CODE" val="n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4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.1899999976158142,&quot;colorType&quot;:1,&quot;foreColorIndex&quot;:5,&quot;pos&quot;:0.4099999964237213,&quot;transparency&quot;:0},{&quot;brightness&quot;:-0.4199999868869781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3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-0.20000000298023224,&quot;colorType&quot;:1,&quot;foreColorIndex&quot;:5,&quot;pos&quot;:0.019999999552965164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2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-0.20000000298023224,&quot;colorType&quot;:1,&quot;foreColorIndex&quot;:5,&quot;pos&quot;:0.019999999552965164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2_4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2_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.4000000059604645,&quot;colorType&quot;:1,&quot;foreColorIndex&quot;:5,&quot;pos&quot;:1,&quot;transparency&quot;:0.5799999833106995},{&quot;brightness&quot;:0.800000011920929,&quot;colorType&quot;:1,&quot;foreColorIndex&quot;:5,&quot;pos&quot;:0.41999998688697815,&quot;transparency&quot;:1}],&quot;type&quot;:3},&quot;glow&quot;:{&quot;colorType&quot;:0},&quot;line&quot;:{&quot;gradient&quot;:[{&quot;brightness&quot;:0.5,&quot;colorType&quot;:1,&quot;foreColorIndex&quot;:5,&quot;pos&quot;:0.6499999761581421,&quot;transparency&quot;:0},{&quot;brightness&quot;:0.5,&quot;colorType&quot;:1,&quot;foreColorIndex&quot;:5,&quot;pos&quot;:0.38999998569488525,&quot;transparency&quot;:0},{&quot;brightness&quot;:0.4000000059604645,&quot;colorType&quot;:1,&quot;foreColorIndex&quot;:5,&quot;pos&quot;:1,&quot;transparency&quot;:0},{&quot;brightness&quot;:-0.20000000298023224,&quot;colorType&quot;:1,&quot;foreColorIndex&quot;:5,&quot;pos&quot;:0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6"/>
  <p:tag name="KSO_WM_UNIT_TEXT_FILL_FORE_SCHEMECOLOR_INDEX" val="2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6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-0.20000000298023224,&quot;colorType&quot;:1,&quot;foreColorIndex&quot;:5,&quot;pos&quot;:0.019999999552965164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5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5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-0.20000000298023224,&quot;colorType&quot;:1,&quot;foreColorIndex&quot;:5,&quot;pos&quot;:0.019999999552965164,&quot;transparency&quot;:0},{&quot;brightness&quot;:0.30000001192092896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i*1_1_1"/>
  <p:tag name="KSO_WM_TEMPLATE_CATEGORY" val="diagram"/>
  <p:tag name="KSO_WM_TEMPLATE_INDEX" val="20231081"/>
  <p:tag name="KSO_WM_UNIT_LAYERLEVEL" val="1_1_1"/>
  <p:tag name="KSO_WM_TAG_VERSION" val="3.0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,&quot;colorType&quot;:1,&quot;foreColorIndex&quot;:5,&quot;pos&quot;:0,&quot;transparency&quot;:0.8100000023841858},{&quot;brightness&quot;:0,&quot;colorType&quot;:2,&quot;pos&quot;:1,&quot;rgb&quot;:&quot;#f2f2f2&quot;,&quot;transparency&quot;:1},{&quot;brightness&quot;:0,&quot;colorType&quot;:1,&quot;foreColorIndex&quot;:5,&quot;pos&quot;:0.4699999988079071,&quot;transparency&quot;:0.759999990463256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1_3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3_3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3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2_3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2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4_3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4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gradient&quot;:[{&quot;brightness&quot;:0,&quot;colorType&quot;:1,&quot;foreColorIndex&quot;:5,&quot;pos&quot;:0,&quot;transparency&quot;:0},{&quot;brightness&quot;:0.20000000298023224,&quot;colorType&quot;:1,&quot;foreColorIndex&quot;:5,&quot;pos&quot;:1,&quot;transparency&quot;:0}],&quot;type&quot;:3},&quot;glow&quot;:{&quot;colorType&quot;:0},&quot;line&quot;:{&quot;type&quot;:0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1081_3*n_h_h_a*1_2_3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081_3*n_h_h_f*1_2_3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&#10;形项正文"/>
  <p:tag name="KSO_WM_UNIT_TEXT_FILL_FORE_SCHEMECOLOR_INDEX" val="1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1081_3*n_h_h_a*1_2_1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081_3*n_h_h_f*1_2_1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&#10;形项正文内容"/>
  <p:tag name="KSO_WM_UNIT_TEXT_FILL_FORE_SCHEMECOLOR_INDEX" val="1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1081_3*n_h_h_a*1_2_4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081_3*n_h_h_f*1_2_4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&#10;形项正文内容"/>
  <p:tag name="KSO_WM_UNIT_TEXT_FILL_FORE_SCHEMECOLOR_INDEX" val="1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a*1_1_1"/>
  <p:tag name="KSO_WM_TEMPLATE_CATEGORY" val="diagram"/>
  <p:tag name="KSO_WM_TEMPLATE_INDEX" val="20231081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10"/>
  <p:tag name="KSO_WM_DIAGRAM_GROUP_CODE" val="n1-1"/>
  <p:tag name="KSO_WM_UNIT_TYPE" val="n_h_a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BEAUTIFY_FLAG" val="#wm#"/>
  <p:tag name="KSO_WM_UNIT_PRESET_TEXT" val="单击此处加&#10;标题内容"/>
  <p:tag name="KSO_WM_UNIT_USESOURCEFORMAT_APPLY" val="1"/>
</p:tagLst>
</file>

<file path=ppt/tags/tag1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1081_3*n_h_h_a*1_2_2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081_3*n_h_h_f*1_2_2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UNIT_PRESET_TEXT" val="单击此处输入你的智能图&#10;形项正文"/>
  <p:tag name="KSO_WM_UNIT_TEXT_FILL_FORE_SCHEMECOLOR_INDEX" val="1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3_2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7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3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1_2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1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4_2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4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8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4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2_2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i*1_2_2_1"/>
  <p:tag name="KSO_WM_TEMPLATE_CATEGORY" val="diagram"/>
  <p:tag name="KSO_WM_TEMPLATE_INDEX" val="20231081"/>
  <p:tag name="KSO_WM_UNIT_LAYERLEVEL" val="1_1_1_1"/>
  <p:tag name="KSO_WM_TAG_VERSION" val="3.0"/>
  <p:tag name="KSO_WM_DIAGRAM_GROUP_CODE" val="n1-1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x*1_2_1_1"/>
  <p:tag name="KSO_WM_TEMPLATE_CATEGORY" val="diagram"/>
  <p:tag name="KSO_WM_TEMPLATE_INDEX" val="20231081"/>
  <p:tag name="KSO_WM_UNIT_LAYERLEVEL" val="1_1_1_1"/>
  <p:tag name="KSO_WM_TAG_VERSION" val="3.0"/>
  <p:tag name="KSO_WM_UNIT_VALUE" val="60*60"/>
  <p:tag name="KSO_WM_DIAGRAM_GROUP_CODE" val="n1-1"/>
  <p:tag name="KSO_WM_UNIT_TYPE" val="n_h_h_x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x*1_2_2_1"/>
  <p:tag name="KSO_WM_TEMPLATE_CATEGORY" val="diagram"/>
  <p:tag name="KSO_WM_TEMPLATE_INDEX" val="20231081"/>
  <p:tag name="KSO_WM_UNIT_LAYERLEVEL" val="1_1_1_1"/>
  <p:tag name="KSO_WM_TAG_VERSION" val="3.0"/>
  <p:tag name="KSO_WM_UNIT_VALUE" val="60*60"/>
  <p:tag name="KSO_WM_DIAGRAM_GROUP_CODE" val="n1-1"/>
  <p:tag name="KSO_WM_UNIT_TYPE" val="n_h_h_x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1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58*47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20231081_3*n_h_h_x*1_2_3_1"/>
  <p:tag name="KSO_WM_TEMPLATE_CATEGORY" val="diagram"/>
  <p:tag name="KSO_WM_TEMPLATE_INDEX" val="20231081"/>
  <p:tag name="KSO_WM_UNIT_LAYERLEVEL" val="1_1_1_1"/>
  <p:tag name="KSO_WM_TAG_VERSION" val="3.0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081_3*n_h_h_x*1_2_4_1"/>
  <p:tag name="KSO_WM_TEMPLATE_CATEGORY" val="diagram"/>
  <p:tag name="KSO_WM_TEMPLATE_INDEX" val="20231081"/>
  <p:tag name="KSO_WM_UNIT_LAYERLEVEL" val="1_1_1_1"/>
  <p:tag name="KSO_WM_TAG_VERSION" val="3.0"/>
  <p:tag name="KSO_WM_UNIT_VALUE" val="55*53"/>
  <p:tag name="KSO_WM_DIAGRAM_GROUP_CODE" val="n1-1"/>
  <p:tag name="KSO_WM_UNIT_TYPE" val="n_h_h_x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4.5869291338583,&quot;left&quot;:-0.44881889763779526,&quot;top&quot;:98.11307086614173,&quot;width&quot;:949.315039370078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UNIT_USESOURCEFORMAT_APPLY" val="1"/>
</p:tagLst>
</file>

<file path=ppt/tags/tag170.xml><?xml version="1.0" encoding="utf-8"?>
<p:tagLst xmlns:p="http://schemas.openxmlformats.org/presentationml/2006/main">
  <p:tag name="KSO_WM_SLIDE_ID" val="diagram20231081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BEAUTIFY_FLAG" val="#wm#"/>
  <p:tag name="KSO_WM_TEMPLATE_CATEGORY" val="diagram"/>
  <p:tag name="KSO_WM_TEMPLATE_INDEX" val="20231081"/>
  <p:tag name="KSO_WM_SLIDE_TYPE" val="text"/>
  <p:tag name="KSO_WM_SLIDE_SUBTYPE" val="diag"/>
  <p:tag name="KSO_WM_SLIDE_SIZE" val="843.8*294.3"/>
  <p:tag name="KSO_WM_SLIDE_POSITION" val="61.7*158.4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71.xml><?xml version="1.0" encoding="utf-8"?>
<p:tagLst xmlns:p="http://schemas.openxmlformats.org/presentationml/2006/main">
  <p:tag name="RESOURCE_RECORD_KEY" val="{&quot;13&quot;:[4685212]}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4070</Words>
  <Application>WPS 演示</Application>
  <PresentationFormat>宽屏</PresentationFormat>
  <Paragraphs>305</Paragraphs>
  <Slides>25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vivo Sans</vt:lpstr>
      <vt:lpstr>vivo Sans Bold</vt:lpstr>
      <vt:lpstr>系统字体常规体</vt:lpstr>
      <vt:lpstr>Segoe Print</vt:lpstr>
      <vt:lpstr>微软雅黑</vt:lpstr>
      <vt:lpstr>vivo Sans</vt:lpstr>
      <vt:lpstr>vivo Sans Extrabold</vt:lpstr>
      <vt:lpstr>vivo Sans Medium</vt:lpstr>
      <vt:lpstr>等线</vt:lpstr>
      <vt:lpstr>华文中宋</vt:lpstr>
      <vt:lpstr>Gill Sans MT</vt:lpstr>
      <vt:lpstr>Arial Unicode MS</vt:lpstr>
      <vt:lpstr>等线 Light</vt:lpstr>
      <vt:lpstr>Calibri Light</vt:lpstr>
      <vt:lpstr>Calibri</vt:lpstr>
      <vt:lpstr>Office 主题</vt:lpstr>
      <vt:lpstr>Office 主题​​</vt:lpstr>
      <vt:lpstr>PowerPoint 演示文稿</vt:lpstr>
      <vt:lpstr>PowerPoint 演示文稿</vt:lpstr>
      <vt:lpstr>团队介绍</vt:lpstr>
      <vt:lpstr>PowerPoint 演示文稿</vt:lpstr>
      <vt:lpstr>作品简介</vt:lpstr>
      <vt:lpstr>理解用户输入意图</vt:lpstr>
      <vt:lpstr>作品简介</vt:lpstr>
      <vt:lpstr>PowerPoint 演示文稿</vt:lpstr>
      <vt:lpstr>PowerPoint 演示文稿</vt:lpstr>
      <vt:lpstr>PowerPoint 演示文稿</vt:lpstr>
      <vt:lpstr>PowerPoint 演示文稿</vt:lpstr>
      <vt:lpstr>作品策划</vt:lpstr>
      <vt:lpstr>作品策划</vt:lpstr>
      <vt:lpstr>产品设计思路</vt:lpstr>
      <vt:lpstr>产品设计思路</vt:lpstr>
      <vt:lpstr>产品设计思路</vt:lpstr>
      <vt:lpstr>产品设计思路</vt:lpstr>
      <vt:lpstr>产品设计思路-产品交互设计</vt:lpstr>
      <vt:lpstr>产品设计思路-涉及的 AI 能力</vt:lpstr>
      <vt:lpstr>产品设计思路</vt:lpstr>
      <vt:lpstr>数据流程图</vt:lpstr>
      <vt:lpstr>作品策划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cckst</cp:lastModifiedBy>
  <cp:revision>63</cp:revision>
  <dcterms:created xsi:type="dcterms:W3CDTF">2025-06-19T14:25:00Z</dcterms:created>
  <dcterms:modified xsi:type="dcterms:W3CDTF">2025-07-06T18:59:11Z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16671AAC35F44080B76121AA83ABA1FD_13</vt:lpwstr>
  </property>
  <property fmtid="{D5CDD505-2E9C-101B-9397-08002B2CF9AE}" pid="3" name="KSOProductBuildVer">
    <vt:lpwstr>2052-12.1.0.21915</vt:lpwstr>
  </property>
</Properties>
</file>